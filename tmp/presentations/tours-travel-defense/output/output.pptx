
<file path=[Content_Types].xml><?xml version="1.0" encoding="utf-8"?>
<Types xmlns="http://schemas.openxmlformats.org/package/2006/content-types">
  <Default Extension="xml" ContentType="application/vnd.openxmlformats-package.core-properties+xml"/>
  <Default Extension="png" ContentType="image/png"/>
  <Default Extension="jpeg" ContentType="image/jpeg"/>
  <Default Extension="rels" ContentType="application/vnd.openxmlformats-package.relationships+xml"/>
  <Override PartName="/docProps/app.xml" ContentType="application/vnd.openxmlformats-officedocument.extended-properties+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theme/theme1.xml" ContentType="application/vnd.openxmlformats-officedocument.theme+xml"/>
  <Override PartName="/ppt/notesMasters/notesMaster1.xml" ContentType="application/vnd.openxmlformats-officedocument.presentationml.notesMaster+xml"/>
  <Override PartName="/ppt/notesMasters/theme/theme2.xml" ContentType="application/vnd.openxmlformats-officedocument.them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ableStyles.xml" ContentType="application/vnd.openxmlformats-officedocument.presentationml.tableStyles+xml"/>
  <Override PartName="/ppt/slideLayouts/slideLayout2.xml" ContentType="application/vnd.openxmlformats-officedocument.presentationml.slideLayout+xml"/>
  <Override PartName="/ppt/slides/slide1.xml" ContentType="application/vnd.openxmlformats-officedocument.presentationml.slide+xml"/>
  <Override PartName="/ppt/notesSlides/notesSlide1.xml" ContentType="application/vnd.openxmlformats-officedocument.presentationml.notesSlide+xml"/>
  <Override PartName="/ppt/slides/slide2.xml" ContentType="application/vnd.openxmlformats-officedocument.presentationml.slide+xml"/>
  <Override PartName="/ppt/notesSlides/notesSlide2.xml" ContentType="application/vnd.openxmlformats-officedocument.presentationml.notesSlide+xml"/>
  <Override PartName="/ppt/slides/slide3.xml" ContentType="application/vnd.openxmlformats-officedocument.presentationml.slide+xml"/>
  <Override PartName="/ppt/notesSlides/notesSlide3.xml" ContentType="application/vnd.openxmlformats-officedocument.presentationml.notesSlide+xml"/>
  <Override PartName="/ppt/slides/slide4.xml" ContentType="application/vnd.openxmlformats-officedocument.presentationml.slide+xml"/>
  <Override PartName="/ppt/notesSlides/notesSlide4.xml" ContentType="application/vnd.openxmlformats-officedocument.presentationml.notesSlide+xml"/>
  <Override PartName="/ppt/slides/slide5.xml" ContentType="application/vnd.openxmlformats-officedocument.presentationml.slide+xml"/>
  <Override PartName="/ppt/notesSlides/notesSlide5.xml" ContentType="application/vnd.openxmlformats-officedocument.presentationml.notesSlide+xml"/>
  <Override PartName="/ppt/slides/slide6.xml" ContentType="application/vnd.openxmlformats-officedocument.presentationml.slide+xml"/>
  <Override PartName="/ppt/notesSlides/notesSlide6.xml" ContentType="application/vnd.openxmlformats-officedocument.presentationml.notesSlide+xml"/>
  <Override PartName="/ppt/slides/slide7.xml" ContentType="application/vnd.openxmlformats-officedocument.presentationml.slide+xml"/>
  <Override PartName="/ppt/notesSlides/notesSlide7.xml" ContentType="application/vnd.openxmlformats-officedocument.presentationml.notesSlide+xml"/>
  <Override PartName="/ppt/slides/slide8.xml" ContentType="application/vnd.openxmlformats-officedocument.presentationml.slide+xml"/>
  <Override PartName="/ppt/notesSlides/notesSlide8.xml" ContentType="application/vnd.openxmlformats-officedocument.presentationml.notesSlide+xml"/>
  <Override PartName="/ppt/slides/slide9.xml" ContentType="application/vnd.openxmlformats-officedocument.presentationml.slide+xml"/>
  <Override PartName="/ppt/notesSlides/notesSlide9.xml" ContentType="application/vnd.openxmlformats-officedocument.presentationml.notesSlide+xml"/>
  <Override PartName="/ppt/slides/slide10.xml" ContentType="application/vnd.openxmlformats-officedocument.presentationml.slide+xml"/>
  <Override PartName="/ppt/notesSlides/notesSlide10.xml" ContentType="application/vnd.openxmlformats-officedocument.presentationml.notesSlide+xml"/>
  <Override PartName="/ppt/slides/slide11.xml" ContentType="application/vnd.openxmlformats-officedocument.presentationml.slide+xml"/>
  <Override PartName="/ppt/notesSlides/notesSlide11.xml" ContentType="application/vnd.openxmlformats-officedocument.presentationml.notesSlide+xml"/>
  <Override PartName="/ppt/slides/slide12.xml" ContentType="application/vnd.openxmlformats-officedocument.presentationml.slide+xml"/>
  <Override PartName="/ppt/notesSlides/notesSlide12.xml" ContentType="application/vnd.openxmlformats-officedocument.presentationml.notesSlide+xml"/>
  <Override PartName="/ppt/slides/slide13.xml" ContentType="application/vnd.openxmlformats-officedocument.presentationml.slide+xml"/>
  <Override PartName="/ppt/notesSlides/notesSlide13.xml" ContentType="application/vnd.openxmlformats-officedocument.presentationml.notesSlide+xml"/>
  <Override PartName="/ppt/slides/slide14.xml" ContentType="application/vnd.openxmlformats-officedocument.presentationml.slide+xml"/>
  <Override PartName="/ppt/notesSlides/notesSlide14.xml" ContentType="application/vnd.openxmlformats-officedocument.presentationml.notesSlide+xml"/>
  <Override PartName="/ppt/slides/slide15.xml" ContentType="application/vnd.openxmlformats-officedocument.presentationml.slide+xml"/>
  <Override PartName="/ppt/notesSlides/notesSlide15.xml" ContentType="application/vnd.openxmlformats-officedocument.presentationml.notesSlide+xml"/>
  <Override PartName="/ppt/slides/slide16.xml" ContentType="application/vnd.openxmlformats-officedocument.presentationml.slide+xml"/>
  <Override PartName="/ppt/notesSlides/notesSlide16.xml" ContentType="application/vnd.openxmlformats-officedocument.presentationml.notesSlide+xml"/>
  <Override PartName="/ppt/slides/slide17.xml" ContentType="application/vnd.openxmlformats-officedocument.presentationml.slide+xml"/>
  <Override PartName="/ppt/notesSlides/notesSlide17.xml" ContentType="application/vnd.openxmlformats-officedocument.presentationml.notesSlide+xml"/>
  <Override PartName="/ppt/slides/slide18.xml" ContentType="application/vnd.openxmlformats-officedocument.presentationml.slide+xml"/>
  <Override PartName="/ppt/notesSlides/notesSlide18.xml" ContentType="application/vnd.openxmlformats-officedocument.presentationml.notesSlide+xml"/>
</Types>
</file>

<file path=_rels/.rels>&#65279;<?xml version="1.0" encoding="utf-8"?><Relationships xmlns="http://schemas.openxmlformats.org/package/2006/relationships"><Relationship Type="http://schemas.openxmlformats.org/package/2006/relationships/metadata/core-properties" Target="/docProps/core.xml" Id="R49d669fe3fe04517" /><Relationship Type="http://schemas.openxmlformats.org/officeDocument/2006/relationships/extended-properties" Target="/docProps/app.xml" Id="R76d282b44f4048be" /><Relationship Type="http://schemas.openxmlformats.org/officeDocument/2006/relationships/officeDocument" Target="/ppt/presentation.xml" Id="R04cc14dba12f46b2" /></Relationships>
</file>

<file path=ppt/presentation.xml><?xml version="1.0" encoding="utf-8"?>
<p:presentation xmlns:p="http://schemas.openxmlformats.org/presentationml/2006/main">
  <p:sldMasterIdLst>
    <p:sldMasterId xmlns:r="http://schemas.openxmlformats.org/officeDocument/2006/relationships" id="2147483648" r:id="R7f05719106ac45b1"/>
  </p:sldMasterIdLst>
  <p:notesMasterIdLst>
    <p:notesMasterId xmlns:r="http://schemas.openxmlformats.org/officeDocument/2006/relationships" r:id="Rd81d8e7f1f7e4325"/>
  </p:notesMasterIdLst>
  <p:sldIdLst>
    <p:sldId xmlns:r="http://schemas.openxmlformats.org/officeDocument/2006/relationships" id="256" r:id="R163719cfb1594c31"/>
    <p:sldId xmlns:r="http://schemas.openxmlformats.org/officeDocument/2006/relationships" id="257" r:id="R8fcc9ce942654f31"/>
    <p:sldId xmlns:r="http://schemas.openxmlformats.org/officeDocument/2006/relationships" id="258" r:id="R7078db9c0c39454f"/>
    <p:sldId xmlns:r="http://schemas.openxmlformats.org/officeDocument/2006/relationships" id="259" r:id="R8f877246c8b049d5"/>
    <p:sldId xmlns:r="http://schemas.openxmlformats.org/officeDocument/2006/relationships" id="260" r:id="R7c073de84a5247c1"/>
    <p:sldId xmlns:r="http://schemas.openxmlformats.org/officeDocument/2006/relationships" id="261" r:id="R027dd0605ee34434"/>
    <p:sldId xmlns:r="http://schemas.openxmlformats.org/officeDocument/2006/relationships" id="262" r:id="Rf0bc5cc14b704f2b"/>
    <p:sldId xmlns:r="http://schemas.openxmlformats.org/officeDocument/2006/relationships" id="263" r:id="Ra7b3fe1445294263"/>
    <p:sldId xmlns:r="http://schemas.openxmlformats.org/officeDocument/2006/relationships" id="264" r:id="R306529eeb3d84294"/>
    <p:sldId xmlns:r="http://schemas.openxmlformats.org/officeDocument/2006/relationships" id="265" r:id="R8f620bb0fb934e0b"/>
    <p:sldId xmlns:r="http://schemas.openxmlformats.org/officeDocument/2006/relationships" id="266" r:id="R1ff9870867e945b9"/>
    <p:sldId xmlns:r="http://schemas.openxmlformats.org/officeDocument/2006/relationships" id="267" r:id="Rd6dd423ec8ba4e50"/>
    <p:sldId xmlns:r="http://schemas.openxmlformats.org/officeDocument/2006/relationships" id="268" r:id="R031161d717e44a14"/>
    <p:sldId xmlns:r="http://schemas.openxmlformats.org/officeDocument/2006/relationships" id="269" r:id="Rd97ebc037fb04d5c"/>
    <p:sldId xmlns:r="http://schemas.openxmlformats.org/officeDocument/2006/relationships" id="270" r:id="R83c5174c25e84276"/>
    <p:sldId xmlns:r="http://schemas.openxmlformats.org/officeDocument/2006/relationships" id="271" r:id="R622191ef0ec94e87"/>
    <p:sldId xmlns:r="http://schemas.openxmlformats.org/officeDocument/2006/relationships" id="272" r:id="Rb2f577b0fe8643b4"/>
    <p:sldId xmlns:r="http://schemas.openxmlformats.org/officeDocument/2006/relationships" id="273" r:id="R4fea930439494f01"/>
  </p:sldIdLst>
  <p:sldSz cx="9144000" cy="5143500"/>
  <p:notesSz cx="6858000" cy="9144000"/>
  <p:defaultTextStyle>
    <a:defPPr xmlns:a="http://schemas.openxmlformats.org/drawingml/2006/main">
      <a:defRPr lang="en-US"/>
    </a:defPPr>
    <a:lvl1pPr xmlns:a="http://schemas.openxmlformats.org/drawingml/2006/main" marL="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1pPr>
    <a:lvl2pPr xmlns:a="http://schemas.openxmlformats.org/drawingml/2006/main" marL="4572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2pPr>
    <a:lvl3pPr xmlns:a="http://schemas.openxmlformats.org/drawingml/2006/main" marL="9144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3pPr>
    <a:lvl4pPr xmlns:a="http://schemas.openxmlformats.org/drawingml/2006/main" marL="13716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4pPr>
    <a:lvl5pPr xmlns:a="http://schemas.openxmlformats.org/drawingml/2006/main" marL="18288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5pPr>
    <a:lvl6pPr xmlns:a="http://schemas.openxmlformats.org/drawingml/2006/main" marL="22860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6pPr>
    <a:lvl7pPr xmlns:a="http://schemas.openxmlformats.org/drawingml/2006/main" marL="27432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7pPr>
    <a:lvl8pPr xmlns:a="http://schemas.openxmlformats.org/drawingml/2006/main" marL="32004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8pPr>
    <a:lvl9pPr xmlns:a="http://schemas.openxmlformats.org/drawingml/2006/main" marL="36576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p="http://schemas.openxmlformats.org/presentationml/2006/main">
  <p:extLst>
    <p:ext xmlns:p14="http://schemas.microsoft.com/office/powerpoint/2010/main" uri="{E76CE94A-603C-4142-B9EB-6D1370010A27}">
      <p14:discardImageEditData val="0"/>
    </p:ext>
    <p:ext xmlns:p14="http://schemas.microsoft.com/office/powerpoint/2010/main" uri="{D31A062A-798A-4329-ABDD-BBA856620510}">
      <p14:defaultImageDpi val="32767"/>
    </p:ext>
    <p:ext xmlns:p15="http://schemas.microsoft.com/office/powerpoint/2012/main" uri="{FD5EFAAD-0ECE-453E-9831-46B23BE46B34}">
      <p15:chartTrackingRefBased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p="http://schemas.openxmlformats.org/presentationml/2006/main">
  <p:normalViewPr>
    <p:restoredLeft sz="15611"/>
    <p:restoredTop sz="94658"/>
  </p:normalViewPr>
  <p:slideViewPr>
    <p:cSldViewPr snapToGrid="0">
      <p:cViewPr varScale="1">
        <p:scale>
          <a:sx xmlns:a="http://schemas.openxmlformats.org/drawingml/2006/main" n="120" d="100"/>
          <a:sy xmlns:a="http://schemas.openxmlformats.org/drawingml/2006/main" n="120" d="100"/>
        </p:scale>
        <p:origin x="800" y="184"/>
      </p:cViewPr>
      <p:guideLst/>
    </p:cSldViewPr>
  </p:slideViewPr>
  <p:notesTextViewPr>
    <p:cViewPr>
      <p:scale>
        <a:sx xmlns:a="http://schemas.openxmlformats.org/drawingml/2006/main" n="1" d="1"/>
        <a:sy xmlns:a="http://schemas.openxmlformats.org/drawingml/2006/main" n="1" d="1"/>
      </p:scale>
      <p:origin x="0" y="0"/>
    </p:cViewPr>
  </p:notesTextViewPr>
  <p:gridSpacing cx="76200" cy="76200"/>
</p:viewPr>
</file>

<file path=ppt/_rels/presentation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7f05719106ac45b1" /><Relationship Type="http://schemas.openxmlformats.org/officeDocument/2006/relationships/theme" Target="/ppt/theme/theme1.xml" Id="R4e4021a4db0d42bb" /><Relationship Type="http://schemas.openxmlformats.org/officeDocument/2006/relationships/notesMaster" Target="/ppt/notesMasters/notesMaster1.xml" Id="Rd81d8e7f1f7e4325" /><Relationship Type="http://schemas.openxmlformats.org/officeDocument/2006/relationships/presProps" Target="/ppt/presProps.xml" Id="R57028f2954ff4ad6" /><Relationship Type="http://schemas.openxmlformats.org/officeDocument/2006/relationships/viewProps" Target="/ppt/viewProps.xml" Id="R3f6b009f33e1404e" /><Relationship Type="http://schemas.openxmlformats.org/officeDocument/2006/relationships/tableStyles" Target="/ppt/tableStyles.xml" Id="Rcbbbce83c13340f9" /><Relationship Type="http://schemas.openxmlformats.org/officeDocument/2006/relationships/slide" Target="/ppt/slides/slide1.xml" Id="R163719cfb1594c31" /><Relationship Type="http://schemas.openxmlformats.org/officeDocument/2006/relationships/slide" Target="/ppt/slides/slide2.xml" Id="R8fcc9ce942654f31" /><Relationship Type="http://schemas.openxmlformats.org/officeDocument/2006/relationships/slide" Target="/ppt/slides/slide3.xml" Id="R7078db9c0c39454f" /><Relationship Type="http://schemas.openxmlformats.org/officeDocument/2006/relationships/slide" Target="/ppt/slides/slide4.xml" Id="R8f877246c8b049d5" /><Relationship Type="http://schemas.openxmlformats.org/officeDocument/2006/relationships/slide" Target="/ppt/slides/slide5.xml" Id="R7c073de84a5247c1" /><Relationship Type="http://schemas.openxmlformats.org/officeDocument/2006/relationships/slide" Target="/ppt/slides/slide6.xml" Id="R027dd0605ee34434" /><Relationship Type="http://schemas.openxmlformats.org/officeDocument/2006/relationships/slide" Target="/ppt/slides/slide7.xml" Id="Rf0bc5cc14b704f2b" /><Relationship Type="http://schemas.openxmlformats.org/officeDocument/2006/relationships/slide" Target="/ppt/slides/slide8.xml" Id="Ra7b3fe1445294263" /><Relationship Type="http://schemas.openxmlformats.org/officeDocument/2006/relationships/slide" Target="/ppt/slides/slide9.xml" Id="R306529eeb3d84294" /><Relationship Type="http://schemas.openxmlformats.org/officeDocument/2006/relationships/slide" Target="/ppt/slides/slide10.xml" Id="R8f620bb0fb934e0b" /><Relationship Type="http://schemas.openxmlformats.org/officeDocument/2006/relationships/slide" Target="/ppt/slides/slide11.xml" Id="R1ff9870867e945b9" /><Relationship Type="http://schemas.openxmlformats.org/officeDocument/2006/relationships/slide" Target="/ppt/slides/slide12.xml" Id="Rd6dd423ec8ba4e50" /><Relationship Type="http://schemas.openxmlformats.org/officeDocument/2006/relationships/slide" Target="/ppt/slides/slide13.xml" Id="R031161d717e44a14" /><Relationship Type="http://schemas.openxmlformats.org/officeDocument/2006/relationships/slide" Target="/ppt/slides/slide14.xml" Id="Rd97ebc037fb04d5c" /><Relationship Type="http://schemas.openxmlformats.org/officeDocument/2006/relationships/slide" Target="/ppt/slides/slide15.xml" Id="R83c5174c25e84276" /><Relationship Type="http://schemas.openxmlformats.org/officeDocument/2006/relationships/slide" Target="/ppt/slides/slide16.xml" Id="R622191ef0ec94e87" /><Relationship Type="http://schemas.openxmlformats.org/officeDocument/2006/relationships/slide" Target="/ppt/slides/slide17.xml" Id="Rb2f577b0fe8643b4" /><Relationship Type="http://schemas.openxmlformats.org/officeDocument/2006/relationships/slide" Target="/ppt/slides/slide18.xml" Id="R4fea930439494f01" /></Relationships>
</file>

<file path=ppt/notesMasters/_rels/notesMaster1.xml.rels>&#65279;<?xml version="1.0" encoding="utf-8"?><Relationships xmlns="http://schemas.openxmlformats.org/package/2006/relationships"><Relationship Type="http://schemas.openxmlformats.org/officeDocument/2006/relationships/theme" Target="/ppt/notesMasters/theme/theme2.xml" Id="R487b3ce66de24bb2" /></Relationships>
</file>

<file path=ppt/notesMasters/notesMaster1.xml><?xml version="1.0" encoding="utf-8"?>
<p:notesMaster xmlns:p="http://schemas.openxmlformats.org/presentationml/2006/main">
  <p:cSld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Header Placeholder"/>
          <p:cNvSpPr/>
          <p:nvPr>
            <p:ph type="hdr" sz="quarter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3" name="Date Placeholder"/>
          <p:cNvSpPr/>
          <p:nvPr>
            <p:ph type="dt" sz="quarter" idx="1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Image Placeholder"/>
          <p:cNvSpPr/>
          <p:nvPr>
            <p:ph type="sldImg" idx="2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5" name="Notes Placeholder"/>
          <p:cNvSpPr/>
          <p:nvPr>
            <p:ph type="body" sz="quarter" idx="3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6" name="Footer Placeholder"/>
          <p:cNvSpPr/>
          <p:nvPr>
            <p:ph type="ftr" sz="quarter" idx="4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7" name="Slide Number Placeholder"/>
          <p:cNvSpPr/>
          <p:nvPr>
            <p:ph type="sldNum" sz="quarter" idx="5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xmlns:a="http://schemas.openxmlformats.org/drawingml/2006/main" marL="0" algn="l" defTabSz="914400" rtl="0" eaLnBrk="1" latinLnBrk="0" hangingPunct="1">
      <a:defRPr sz="1200" kern="1200"/>
    </a:lvl1pPr>
  </p:notesStyle>
</p:notesMaster>
</file>

<file path=ppt/notesMasters/theme/theme2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solidFill>
          <a:schemeClr val="dk1"/>
        </a:solidFill>
        <a:solidFill>
          <a:schemeClr val="accent1"/>
        </a:soli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notesSlides/_rels/notesSlide1.xml.rels>&#65279;<?xml version="1.0" encoding="utf-8"?><Relationships xmlns="http://schemas.openxmlformats.org/package/2006/relationships"><Relationship Type="http://schemas.openxmlformats.org/officeDocument/2006/relationships/slide" Target="/ppt/slides/slide1.xml" Id="R771c3e567ef5448d" /><Relationship Type="http://schemas.openxmlformats.org/officeDocument/2006/relationships/notesMaster" Target="/ppt/notesMasters/notesMaster1.xml" Id="Rba92481fceb94678" /></Relationships>
</file>

<file path=ppt/notesSlides/_rels/notesSlide2.xml.rels>&#65279;<?xml version="1.0" encoding="utf-8"?><Relationships xmlns="http://schemas.openxmlformats.org/package/2006/relationships"><Relationship Type="http://schemas.openxmlformats.org/officeDocument/2006/relationships/slide" Target="/ppt/slides/slide2.xml" Id="R9cd5e95f30624e31" /><Relationship Type="http://schemas.openxmlformats.org/officeDocument/2006/relationships/notesMaster" Target="/ppt/notesMasters/notesMaster1.xml" Id="R8a189c37604b4e76" /></Relationships>
</file>

<file path=ppt/notesSlides/_rels/notesSlide3.xml.rels>&#65279;<?xml version="1.0" encoding="utf-8"?><Relationships xmlns="http://schemas.openxmlformats.org/package/2006/relationships"><Relationship Type="http://schemas.openxmlformats.org/officeDocument/2006/relationships/slide" Target="/ppt/slides/slide3.xml" Id="Rf001459849d64c88" /><Relationship Type="http://schemas.openxmlformats.org/officeDocument/2006/relationships/notesMaster" Target="/ppt/notesMasters/notesMaster1.xml" Id="R53c9ebe347124b68" /></Relationships>
</file>

<file path=ppt/notesSlides/_rels/notesSlide4.xml.rels>&#65279;<?xml version="1.0" encoding="utf-8"?><Relationships xmlns="http://schemas.openxmlformats.org/package/2006/relationships"><Relationship Type="http://schemas.openxmlformats.org/officeDocument/2006/relationships/slide" Target="/ppt/slides/slide4.xml" Id="Raa38c031df654de2" /><Relationship Type="http://schemas.openxmlformats.org/officeDocument/2006/relationships/notesMaster" Target="/ppt/notesMasters/notesMaster1.xml" Id="Reb70cf8f53dd4c0e" /></Relationships>
</file>

<file path=ppt/notesSlides/_rels/notesSlide5.xml.rels>&#65279;<?xml version="1.0" encoding="utf-8"?><Relationships xmlns="http://schemas.openxmlformats.org/package/2006/relationships"><Relationship Type="http://schemas.openxmlformats.org/officeDocument/2006/relationships/slide" Target="/ppt/slides/slide5.xml" Id="R5a769f6d77114de1" /><Relationship Type="http://schemas.openxmlformats.org/officeDocument/2006/relationships/notesMaster" Target="/ppt/notesMasters/notesMaster1.xml" Id="Rb699da580c24401f" /></Relationships>
</file>

<file path=ppt/notesSlides/_rels/notesSlide6.xml.rels>&#65279;<?xml version="1.0" encoding="utf-8"?><Relationships xmlns="http://schemas.openxmlformats.org/package/2006/relationships"><Relationship Type="http://schemas.openxmlformats.org/officeDocument/2006/relationships/slide" Target="/ppt/slides/slide6.xml" Id="Rb26abaec31f74bcc" /><Relationship Type="http://schemas.openxmlformats.org/officeDocument/2006/relationships/notesMaster" Target="/ppt/notesMasters/notesMaster1.xml" Id="R5d76cb6cb97f42a2" /></Relationships>
</file>

<file path=ppt/notesSlides/_rels/notesSlide7.xml.rels>&#65279;<?xml version="1.0" encoding="utf-8"?><Relationships xmlns="http://schemas.openxmlformats.org/package/2006/relationships"><Relationship Type="http://schemas.openxmlformats.org/officeDocument/2006/relationships/slide" Target="/ppt/slides/slide7.xml" Id="R3f7d9f1d2ea243c3" /><Relationship Type="http://schemas.openxmlformats.org/officeDocument/2006/relationships/notesMaster" Target="/ppt/notesMasters/notesMaster1.xml" Id="R25b7db329c404249" /></Relationships>
</file>

<file path=ppt/notesSlides/_rels/notesSlide8.xml.rels>&#65279;<?xml version="1.0" encoding="utf-8"?><Relationships xmlns="http://schemas.openxmlformats.org/package/2006/relationships"><Relationship Type="http://schemas.openxmlformats.org/officeDocument/2006/relationships/slide" Target="/ppt/slides/slide8.xml" Id="R44e7227b82ee48f1" /><Relationship Type="http://schemas.openxmlformats.org/officeDocument/2006/relationships/notesMaster" Target="/ppt/notesMasters/notesMaster1.xml" Id="R379b909fd7a547f1" /></Relationships>
</file>

<file path=ppt/notesSlides/_rels/notesSlide9.xml.rels>&#65279;<?xml version="1.0" encoding="utf-8"?><Relationships xmlns="http://schemas.openxmlformats.org/package/2006/relationships"><Relationship Type="http://schemas.openxmlformats.org/officeDocument/2006/relationships/slide" Target="/ppt/slides/slide9.xml" Id="R0adc91ed2b444ef5" /><Relationship Type="http://schemas.openxmlformats.org/officeDocument/2006/relationships/notesMaster" Target="/ppt/notesMasters/notesMaster1.xml" Id="R5d3d0dbf2d9c4431" /></Relationships>
</file>

<file path=ppt/notesSlides/_rels/notesSlide10.xml.rels>&#65279;<?xml version="1.0" encoding="utf-8"?><Relationships xmlns="http://schemas.openxmlformats.org/package/2006/relationships"><Relationship Type="http://schemas.openxmlformats.org/officeDocument/2006/relationships/slide" Target="/ppt/slides/slide10.xml" Id="R9d5365b34d694cb2" /><Relationship Type="http://schemas.openxmlformats.org/officeDocument/2006/relationships/notesMaster" Target="/ppt/notesMasters/notesMaster1.xml" Id="Ra9d0e6c8018f4418" /></Relationships>
</file>

<file path=ppt/notesSlides/_rels/notesSlide11.xml.rels>&#65279;<?xml version="1.0" encoding="utf-8"?><Relationships xmlns="http://schemas.openxmlformats.org/package/2006/relationships"><Relationship Type="http://schemas.openxmlformats.org/officeDocument/2006/relationships/slide" Target="/ppt/slides/slide11.xml" Id="Ra266236de3a54f48" /><Relationship Type="http://schemas.openxmlformats.org/officeDocument/2006/relationships/notesMaster" Target="/ppt/notesMasters/notesMaster1.xml" Id="R39804dfa199b4c94" /></Relationships>
</file>

<file path=ppt/notesSlides/_rels/notesSlide12.xml.rels>&#65279;<?xml version="1.0" encoding="utf-8"?><Relationships xmlns="http://schemas.openxmlformats.org/package/2006/relationships"><Relationship Type="http://schemas.openxmlformats.org/officeDocument/2006/relationships/slide" Target="/ppt/slides/slide12.xml" Id="Rd59fb00dd863407b" /><Relationship Type="http://schemas.openxmlformats.org/officeDocument/2006/relationships/notesMaster" Target="/ppt/notesMasters/notesMaster1.xml" Id="R036de1edeb8e4b93" /></Relationships>
</file>

<file path=ppt/notesSlides/_rels/notesSlide13.xml.rels>&#65279;<?xml version="1.0" encoding="utf-8"?><Relationships xmlns="http://schemas.openxmlformats.org/package/2006/relationships"><Relationship Type="http://schemas.openxmlformats.org/officeDocument/2006/relationships/slide" Target="/ppt/slides/slide13.xml" Id="R88ddf07df9cc4d92" /><Relationship Type="http://schemas.openxmlformats.org/officeDocument/2006/relationships/notesMaster" Target="/ppt/notesMasters/notesMaster1.xml" Id="Ree033ceaa30540e3" /></Relationships>
</file>

<file path=ppt/notesSlides/_rels/notesSlide14.xml.rels>&#65279;<?xml version="1.0" encoding="utf-8"?><Relationships xmlns="http://schemas.openxmlformats.org/package/2006/relationships"><Relationship Type="http://schemas.openxmlformats.org/officeDocument/2006/relationships/slide" Target="/ppt/slides/slide14.xml" Id="Rd33ab24266074c7d" /><Relationship Type="http://schemas.openxmlformats.org/officeDocument/2006/relationships/notesMaster" Target="/ppt/notesMasters/notesMaster1.xml" Id="Rbe3d39e2d2ff4b4b" /></Relationships>
</file>

<file path=ppt/notesSlides/_rels/notesSlide15.xml.rels>&#65279;<?xml version="1.0" encoding="utf-8"?><Relationships xmlns="http://schemas.openxmlformats.org/package/2006/relationships"><Relationship Type="http://schemas.openxmlformats.org/officeDocument/2006/relationships/slide" Target="/ppt/slides/slide15.xml" Id="Rd3aef7cf0d674d4f" /><Relationship Type="http://schemas.openxmlformats.org/officeDocument/2006/relationships/notesMaster" Target="/ppt/notesMasters/notesMaster1.xml" Id="R73163ec9b6e6479a" /></Relationships>
</file>

<file path=ppt/notesSlides/_rels/notesSlide16.xml.rels>&#65279;<?xml version="1.0" encoding="utf-8"?><Relationships xmlns="http://schemas.openxmlformats.org/package/2006/relationships"><Relationship Type="http://schemas.openxmlformats.org/officeDocument/2006/relationships/slide" Target="/ppt/slides/slide16.xml" Id="Rab702e0cf7644e70" /><Relationship Type="http://schemas.openxmlformats.org/officeDocument/2006/relationships/notesMaster" Target="/ppt/notesMasters/notesMaster1.xml" Id="Rbfd8897fb45a4a11" /></Relationships>
</file>

<file path=ppt/notesSlides/_rels/notesSlide17.xml.rels>&#65279;<?xml version="1.0" encoding="utf-8"?><Relationships xmlns="http://schemas.openxmlformats.org/package/2006/relationships"><Relationship Type="http://schemas.openxmlformats.org/officeDocument/2006/relationships/slide" Target="/ppt/slides/slide17.xml" Id="R9e4b721dad984d0b" /><Relationship Type="http://schemas.openxmlformats.org/officeDocument/2006/relationships/notesMaster" Target="/ppt/notesMasters/notesMaster1.xml" Id="Rf07707f808274319" /></Relationships>
</file>

<file path=ppt/notesSlides/_rels/notesSlide18.xml.rels>&#65279;<?xml version="1.0" encoding="utf-8"?><Relationships xmlns="http://schemas.openxmlformats.org/package/2006/relationships"><Relationship Type="http://schemas.openxmlformats.org/officeDocument/2006/relationships/slide" Target="/ppt/slides/slide18.xml" Id="R93b38a0e9ef44af6" /><Relationship Type="http://schemas.openxmlformats.org/officeDocument/2006/relationships/notesMaster" Target="/ppt/notesMasters/notesMaster1.xml" Id="Rcfd4f7cb20354e5b" /></Relationships>
</file>

<file path=ppt/notesSlides/notesSlide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3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4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5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6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7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8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9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0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2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3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4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5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6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7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8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slideLayouts/_rels/slideLayout2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2f65d38162fc4d16" /></Relationships>
</file>

<file path=ppt/slideLayouts/slideLayout2.xml><?xml version="1.0" encoding="utf-8"?>
<p:sldLayout xmlns:p="http://schemas.openxmlformats.org/presentationml/2006/main" type="title">
  <p:cSld name="Title Slide"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</p:sldLayout>
</file>

<file path=ppt/slideMasters/_rels/slideMaster1.xml.rels>&#65279;<?xml version="1.0" encoding="utf-8"?><Relationships xmlns="http://schemas.openxmlformats.org/package/2006/relationships"><Relationship Type="http://schemas.openxmlformats.org/officeDocument/2006/relationships/theme" Target="/ppt/theme/theme1.xml" Id="Ra2d48ef0a05643ee" /><Relationship Type="http://schemas.openxmlformats.org/officeDocument/2006/relationships/slideLayout" Target="/ppt/slideLayouts/slideLayout2.xml" Id="R0479bb0b36074ff3" /></Relationships>
</file>

<file path=ppt/slideMasters/slideMaster1.xml><?xml version="1.0" encoding="utf-8"?>
<p:sldMaster xmlns:p="http://schemas.openxmlformats.org/presentationml/2006/main">
  <p:cSld name="Master"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xmlns:r="http://schemas.openxmlformats.org/officeDocument/2006/relationships" id="2147483649" r:id="R0479bb0b36074ff3"/>
  </p:sldLayoutIdLst>
  <p:txStyles>
    <p:titleStyle>
      <a:lvl1pPr xmlns:a="http://schemas.openxmlformats.org/drawingml/2006/main" algn="l">
        <a:lnSpc>
          <a:spcPct val="90000"/>
        </a:lnSpc>
        <a:spcBef>
          <a:spcPts val="0"/>
        </a:spcBef>
        <a:buNone/>
        <a:defRPr sz="4400">
          <a:solidFill>
            <a:schemeClr val="tx1"/>
          </a:solidFill>
          <a:latin typeface="+mj-lt"/>
          <a:ea typeface="+mj-lt"/>
          <a:cs typeface="+mj-lt"/>
        </a:defRPr>
      </a:lvl1pPr>
    </p:titleStyle>
    <p:bodyStyle>
      <a:lvl1pPr xmlns:a="http://schemas.openxmlformats.org/drawingml/2006/main" marL="228600" indent="-228600" algn="l">
        <a:lnSpc>
          <a:spcPct val="90000"/>
        </a:lnSpc>
        <a:spcBef>
          <a:spcPts val="1000"/>
        </a:spcBef>
        <a:buChar char="•"/>
        <a:defRPr sz="2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685800" indent="-228600" algn="l">
        <a:lnSpc>
          <a:spcPct val="90000"/>
        </a:lnSpc>
        <a:spcBef>
          <a:spcPts val="500"/>
        </a:spcBef>
        <a:buChar char="•"/>
        <a:defRPr sz="24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1143000" indent="-228600" algn="l">
        <a:lnSpc>
          <a:spcPct val="90000"/>
        </a:lnSpc>
        <a:spcBef>
          <a:spcPts val="500"/>
        </a:spcBef>
        <a:buChar char="•"/>
        <a:defRPr sz="20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600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20574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5146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9718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4290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886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9pPr>
    </p:bodyStyle>
    <p:otherStyle>
      <a:lvl1pPr xmlns:a="http://schemas.openxmlformats.org/drawingml/2006/main" marL="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457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914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371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18288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2860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743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200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657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9pPr>
    </p:otherStyle>
  </p:txStyles>
</p:sldMaster>
</file>

<file path=ppt/slides/_rels/slide1.xml.rels>&#65279;<?xml version="1.0" encoding="utf-8"?><Relationships xmlns="http://schemas.openxmlformats.org/package/2006/relationships"><Relationship Type="http://schemas.openxmlformats.org/officeDocument/2006/relationships/slideLayout" Target="/ppt/slideLayouts/slideLayout2.xml" Id="R4cd89c32d37344fa" /><Relationship Type="http://schemas.openxmlformats.org/officeDocument/2006/relationships/image" Target="/ppt/media/image.png" Id="Rd3d949b2ee674d5e" /><Relationship Type="http://schemas.openxmlformats.org/officeDocument/2006/relationships/notesSlide" Target="/ppt/notesSlides/notesSlide1.xml" Id="Ra90f4fdbd76a4385" /></Relationships>
</file>

<file path=ppt/slides/_rels/slide2.xml.rels>&#65279;<?xml version="1.0" encoding="utf-8"?><Relationships xmlns="http://schemas.openxmlformats.org/package/2006/relationships"><Relationship Type="http://schemas.openxmlformats.org/officeDocument/2006/relationships/slideLayout" Target="/ppt/slideLayouts/slideLayout2.xml" Id="R864210df15904326" /><Relationship Type="http://schemas.openxmlformats.org/officeDocument/2006/relationships/image" Target="/ppt/media/image2.png" Id="Ra5484db3b640473c" /><Relationship Type="http://schemas.openxmlformats.org/officeDocument/2006/relationships/notesSlide" Target="/ppt/notesSlides/notesSlide2.xml" Id="R6caf9d3d7bc4440a" /></Relationships>
</file>

<file path=ppt/slides/_rels/slide3.xml.rels>&#65279;<?xml version="1.0" encoding="utf-8"?><Relationships xmlns="http://schemas.openxmlformats.org/package/2006/relationships"><Relationship Type="http://schemas.openxmlformats.org/officeDocument/2006/relationships/slideLayout" Target="/ppt/slideLayouts/slideLayout2.xml" Id="R27d2e40670ea4470" /><Relationship Type="http://schemas.openxmlformats.org/officeDocument/2006/relationships/image" Target="/ppt/media/image3.png" Id="Rd9553b967ceb4e06" /><Relationship Type="http://schemas.openxmlformats.org/officeDocument/2006/relationships/notesSlide" Target="/ppt/notesSlides/notesSlide3.xml" Id="R86ee18447caf431f" /></Relationships>
</file>

<file path=ppt/slides/_rels/slide4.xml.rels>&#65279;<?xml version="1.0" encoding="utf-8"?><Relationships xmlns="http://schemas.openxmlformats.org/package/2006/relationships"><Relationship Type="http://schemas.openxmlformats.org/officeDocument/2006/relationships/slideLayout" Target="/ppt/slideLayouts/slideLayout2.xml" Id="Rc39cfb01ec5d4160" /><Relationship Type="http://schemas.openxmlformats.org/officeDocument/2006/relationships/image" Target="/ppt/media/image4.png" Id="Rb055ded5935e4b8b" /><Relationship Type="http://schemas.openxmlformats.org/officeDocument/2006/relationships/notesSlide" Target="/ppt/notesSlides/notesSlide4.xml" Id="R9ec499bbab924de2" /></Relationships>
</file>

<file path=ppt/slides/_rels/slide5.xml.rels>&#65279;<?xml version="1.0" encoding="utf-8"?><Relationships xmlns="http://schemas.openxmlformats.org/package/2006/relationships"><Relationship Type="http://schemas.openxmlformats.org/officeDocument/2006/relationships/slideLayout" Target="/ppt/slideLayouts/slideLayout2.xml" Id="R27640488295c43f9" /><Relationship Type="http://schemas.openxmlformats.org/officeDocument/2006/relationships/image" Target="/ppt/media/image5.png" Id="R1504a9bdf99a4749" /><Relationship Type="http://schemas.openxmlformats.org/officeDocument/2006/relationships/notesSlide" Target="/ppt/notesSlides/notesSlide5.xml" Id="Rde97e0cf42314d58" /></Relationships>
</file>

<file path=ppt/slides/_rels/slide6.xml.rels>&#65279;<?xml version="1.0" encoding="utf-8"?><Relationships xmlns="http://schemas.openxmlformats.org/package/2006/relationships"><Relationship Type="http://schemas.openxmlformats.org/officeDocument/2006/relationships/slideLayout" Target="/ppt/slideLayouts/slideLayout2.xml" Id="Rcb81a6a1fe4943c0" /><Relationship Type="http://schemas.openxmlformats.org/officeDocument/2006/relationships/image" Target="/ppt/media/image6.png" Id="Rc9338a5128594f65" /><Relationship Type="http://schemas.openxmlformats.org/officeDocument/2006/relationships/notesSlide" Target="/ppt/notesSlides/notesSlide6.xml" Id="R550bec5e0bbb49e3" /></Relationships>
</file>

<file path=ppt/slides/_rels/slide7.xml.rels>&#65279;<?xml version="1.0" encoding="utf-8"?><Relationships xmlns="http://schemas.openxmlformats.org/package/2006/relationships"><Relationship Type="http://schemas.openxmlformats.org/officeDocument/2006/relationships/slideLayout" Target="/ppt/slideLayouts/slideLayout2.xml" Id="Rbd348acb395b46ed" /><Relationship Type="http://schemas.openxmlformats.org/officeDocument/2006/relationships/image" Target="/ppt/media/image7.png" Id="R7a83f72b483345fb" /><Relationship Type="http://schemas.openxmlformats.org/officeDocument/2006/relationships/image" Target="/ppt/media/image8.png" Id="R6e9cd8f40e004354" /><Relationship Type="http://schemas.openxmlformats.org/officeDocument/2006/relationships/notesSlide" Target="/ppt/notesSlides/notesSlide7.xml" Id="R859e78994ff34123" /></Relationships>
</file>

<file path=ppt/slides/_rels/slide8.xml.rels>&#65279;<?xml version="1.0" encoding="utf-8"?><Relationships xmlns="http://schemas.openxmlformats.org/package/2006/relationships"><Relationship Type="http://schemas.openxmlformats.org/officeDocument/2006/relationships/slideLayout" Target="/ppt/slideLayouts/slideLayout2.xml" Id="Radab5db7da264b6b" /><Relationship Type="http://schemas.openxmlformats.org/officeDocument/2006/relationships/image" Target="/ppt/media/image9.png" Id="R5fd3017dd4334631" /><Relationship Type="http://schemas.openxmlformats.org/officeDocument/2006/relationships/image" Target="/ppt/media/image10.png" Id="R30aac4df37be4563" /><Relationship Type="http://schemas.openxmlformats.org/officeDocument/2006/relationships/notesSlide" Target="/ppt/notesSlides/notesSlide8.xml" Id="Rbf599b3fa8de47bb" /></Relationships>
</file>

<file path=ppt/slides/_rels/slide9.xml.rels>&#65279;<?xml version="1.0" encoding="utf-8"?><Relationships xmlns="http://schemas.openxmlformats.org/package/2006/relationships"><Relationship Type="http://schemas.openxmlformats.org/officeDocument/2006/relationships/slideLayout" Target="/ppt/slideLayouts/slideLayout2.xml" Id="R3a56e350b1094ff1" /><Relationship Type="http://schemas.openxmlformats.org/officeDocument/2006/relationships/image" Target="/ppt/media/image11.png" Id="Re27ba91725c44383" /><Relationship Type="http://schemas.openxmlformats.org/officeDocument/2006/relationships/image" Target="/ppt/media/image.jpeg" Id="R19e270586f684dc9" /><Relationship Type="http://schemas.openxmlformats.org/officeDocument/2006/relationships/image" Target="/ppt/media/image2.jpeg" Id="R525bbe8a9179406a" /><Relationship Type="http://schemas.openxmlformats.org/officeDocument/2006/relationships/image" Target="/ppt/media/image3.jpeg" Id="R052859f7d0d84f92" /><Relationship Type="http://schemas.openxmlformats.org/officeDocument/2006/relationships/notesSlide" Target="/ppt/notesSlides/notesSlide9.xml" Id="R41604646085c4366" /></Relationships>
</file>

<file path=ppt/slides/_rels/slide10.xml.rels>&#65279;<?xml version="1.0" encoding="utf-8"?><Relationships xmlns="http://schemas.openxmlformats.org/package/2006/relationships"><Relationship Type="http://schemas.openxmlformats.org/officeDocument/2006/relationships/slideLayout" Target="/ppt/slideLayouts/slideLayout2.xml" Id="R2b1228544cd743e5" /><Relationship Type="http://schemas.openxmlformats.org/officeDocument/2006/relationships/image" Target="/ppt/media/image12.png" Id="R2cfc189aa39243ee" /><Relationship Type="http://schemas.openxmlformats.org/officeDocument/2006/relationships/image" Target="/ppt/media/image4.jpeg" Id="R2cb0d184f8414456" /><Relationship Type="http://schemas.openxmlformats.org/officeDocument/2006/relationships/image" Target="/ppt/media/image5.jpeg" Id="R7493e92f2303426b" /><Relationship Type="http://schemas.openxmlformats.org/officeDocument/2006/relationships/image" Target="/ppt/media/image6.jpeg" Id="Rc3040d941b874f1f" /><Relationship Type="http://schemas.openxmlformats.org/officeDocument/2006/relationships/notesSlide" Target="/ppt/notesSlides/notesSlide10.xml" Id="R3b4839a2d1fd4fe4" /></Relationships>
</file>

<file path=ppt/slides/_rels/slide11.xml.rels>&#65279;<?xml version="1.0" encoding="utf-8"?><Relationships xmlns="http://schemas.openxmlformats.org/package/2006/relationships"><Relationship Type="http://schemas.openxmlformats.org/officeDocument/2006/relationships/slideLayout" Target="/ppt/slideLayouts/slideLayout2.xml" Id="R9c75ed67157646f1" /><Relationship Type="http://schemas.openxmlformats.org/officeDocument/2006/relationships/image" Target="/ppt/media/image13.png" Id="Ra34d9e5662ef4c6c" /><Relationship Type="http://schemas.openxmlformats.org/officeDocument/2006/relationships/image" Target="/ppt/media/image7.jpeg" Id="Rfbd806cde72745e3" /><Relationship Type="http://schemas.openxmlformats.org/officeDocument/2006/relationships/image" Target="/ppt/media/image8.jpeg" Id="R32f48567269b4d3a" /><Relationship Type="http://schemas.openxmlformats.org/officeDocument/2006/relationships/image" Target="/ppt/media/image9.jpeg" Id="R170234f6065e4754" /><Relationship Type="http://schemas.openxmlformats.org/officeDocument/2006/relationships/notesSlide" Target="/ppt/notesSlides/notesSlide11.xml" Id="R4b597f9e7eae448d" /></Relationships>
</file>

<file path=ppt/slides/_rels/slide12.xml.rels>&#65279;<?xml version="1.0" encoding="utf-8"?><Relationships xmlns="http://schemas.openxmlformats.org/package/2006/relationships"><Relationship Type="http://schemas.openxmlformats.org/officeDocument/2006/relationships/slideLayout" Target="/ppt/slideLayouts/slideLayout2.xml" Id="R58e75d726bbc4fed" /><Relationship Type="http://schemas.openxmlformats.org/officeDocument/2006/relationships/image" Target="/ppt/media/image14.png" Id="R49f0b637bcfd4063" /><Relationship Type="http://schemas.openxmlformats.org/officeDocument/2006/relationships/notesSlide" Target="/ppt/notesSlides/notesSlide12.xml" Id="Rb64768163b5842a5" /></Relationships>
</file>

<file path=ppt/slides/_rels/slide13.xml.rels>&#65279;<?xml version="1.0" encoding="utf-8"?><Relationships xmlns="http://schemas.openxmlformats.org/package/2006/relationships"><Relationship Type="http://schemas.openxmlformats.org/officeDocument/2006/relationships/slideLayout" Target="/ppt/slideLayouts/slideLayout2.xml" Id="R644af842a4dc4beb" /><Relationship Type="http://schemas.openxmlformats.org/officeDocument/2006/relationships/image" Target="/ppt/media/image15.png" Id="Rb79bf00f7e3e45da" /><Relationship Type="http://schemas.openxmlformats.org/officeDocument/2006/relationships/image" Target="/ppt/media/image10.jpeg" Id="R30cc9b092d8c4ef1" /><Relationship Type="http://schemas.openxmlformats.org/officeDocument/2006/relationships/image" Target="/ppt/media/image11.jpeg" Id="R982da312cef84a06" /><Relationship Type="http://schemas.openxmlformats.org/officeDocument/2006/relationships/notesSlide" Target="/ppt/notesSlides/notesSlide13.xml" Id="R6c952a4399b74e5d" /></Relationships>
</file>

<file path=ppt/slides/_rels/slide14.xml.rels>&#65279;<?xml version="1.0" encoding="utf-8"?><Relationships xmlns="http://schemas.openxmlformats.org/package/2006/relationships"><Relationship Type="http://schemas.openxmlformats.org/officeDocument/2006/relationships/slideLayout" Target="/ppt/slideLayouts/slideLayout2.xml" Id="R55eaf533f11849dd" /><Relationship Type="http://schemas.openxmlformats.org/officeDocument/2006/relationships/image" Target="/ppt/media/image16.png" Id="Rb89d690b611d4036" /><Relationship Type="http://schemas.openxmlformats.org/officeDocument/2006/relationships/notesSlide" Target="/ppt/notesSlides/notesSlide14.xml" Id="R1a025f9bd7194a8c" /></Relationships>
</file>

<file path=ppt/slides/_rels/slide15.xml.rels>&#65279;<?xml version="1.0" encoding="utf-8"?><Relationships xmlns="http://schemas.openxmlformats.org/package/2006/relationships"><Relationship Type="http://schemas.openxmlformats.org/officeDocument/2006/relationships/slideLayout" Target="/ppt/slideLayouts/slideLayout2.xml" Id="R639867358d9e42f7" /><Relationship Type="http://schemas.openxmlformats.org/officeDocument/2006/relationships/image" Target="/ppt/media/image17.png" Id="Rd8f289cb7fab4cba" /><Relationship Type="http://schemas.openxmlformats.org/officeDocument/2006/relationships/notesSlide" Target="/ppt/notesSlides/notesSlide15.xml" Id="R3342260190d741d5" /></Relationships>
</file>

<file path=ppt/slides/_rels/slide16.xml.rels>&#65279;<?xml version="1.0" encoding="utf-8"?><Relationships xmlns="http://schemas.openxmlformats.org/package/2006/relationships"><Relationship Type="http://schemas.openxmlformats.org/officeDocument/2006/relationships/slideLayout" Target="/ppt/slideLayouts/slideLayout2.xml" Id="R41d561f674c34291" /><Relationship Type="http://schemas.openxmlformats.org/officeDocument/2006/relationships/image" Target="/ppt/media/image18.png" Id="Ra3da4a94030f438a" /><Relationship Type="http://schemas.openxmlformats.org/officeDocument/2006/relationships/notesSlide" Target="/ppt/notesSlides/notesSlide16.xml" Id="R1c872db5ffa34b01" /></Relationships>
</file>

<file path=ppt/slides/_rels/slide17.xml.rels>&#65279;<?xml version="1.0" encoding="utf-8"?><Relationships xmlns="http://schemas.openxmlformats.org/package/2006/relationships"><Relationship Type="http://schemas.openxmlformats.org/officeDocument/2006/relationships/slideLayout" Target="/ppt/slideLayouts/slideLayout2.xml" Id="R65ec0b5dddcc4453" /><Relationship Type="http://schemas.openxmlformats.org/officeDocument/2006/relationships/image" Target="/ppt/media/image19.png" Id="Rf0aec6af3e5040ee" /><Relationship Type="http://schemas.openxmlformats.org/officeDocument/2006/relationships/notesSlide" Target="/ppt/notesSlides/notesSlide17.xml" Id="Ra8f792edfa0f4e92" /></Relationships>
</file>

<file path=ppt/slides/_rels/slide18.xml.rels>&#65279;<?xml version="1.0" encoding="utf-8"?><Relationships xmlns="http://schemas.openxmlformats.org/package/2006/relationships"><Relationship Type="http://schemas.openxmlformats.org/officeDocument/2006/relationships/slideLayout" Target="/ppt/slideLayouts/slideLayout2.xml" Id="Rcdf93a9620894125" /><Relationship Type="http://schemas.openxmlformats.org/officeDocument/2006/relationships/image" Target="/ppt/media/image20.png" Id="R932cf5518bb64d7c" /><Relationship Type="http://schemas.openxmlformats.org/officeDocument/2006/relationships/notesSlide" Target="/ppt/notesSlides/notesSlide18.xml" Id="Rea360d8064d7452d" /></Relationships>
</file>

<file path=ppt/slides/slide1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pic>
        <p:nvPicPr>
          <p:cNvPr id="1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d3d949b2ee674d5e"/>
          <a:stretch xmlns:a="http://schemas.openxmlformats.org/drawingml/2006/main"/>
        </p:blipFill>
        <p:spPr>
          <a:xfrm xmlns:a="http://schemas.openxmlformats.org/drawingml/2006/main">
            <a:off x="228600" y="167132"/>
            <a:ext cx="1463040" cy="625856"/>
          </a:xfrm>
          <a:prstGeom xmlns:a="http://schemas.openxmlformats.org/drawingml/2006/main" prst="rect">
            <a:avLst/>
          </a:prstGeom>
        </p:spPr>
      </p:pic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48CA7B61-DCA8-478C-8561-56643BC0107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6858000" y="91440"/>
            <a:ext cx="2103120" cy="82296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/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ctr">
              <a:defRPr sz="1050" b="1" i="0">
                <a:solidFill>
                  <a:srgbClr val="1E293B"/>
                </a:solidFill>
                <a:latin typeface="Calibri"/>
                <a:ea typeface="Calibri"/>
                <a:cs typeface="Calibri"/>
              </a:defRPr>
            </a:pPr>
            <a:r>
              <a:t>FYP Defense</a:t>
            </a:r>
          </a:p>
          <a:p xmlns:a="http://schemas.openxmlformats.org/drawingml/2006/main">
            <a:pPr algn="ctr">
              <a:defRPr sz="1050" b="1" i="0">
                <a:solidFill>
                  <a:srgbClr val="1E293B"/>
                </a:solidFill>
                <a:latin typeface="Calibri"/>
                <a:ea typeface="Calibri"/>
                <a:cs typeface="Calibri"/>
              </a:defRPr>
            </a:pPr>
            <a:r>
              <a:t>Presentation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98252E0B-707C-4234-B301-9B6AFEBD949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457200" y="1200150"/>
            <a:ext cx="8229600" cy="1028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/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ctr">
              <a:defRPr sz="4200" b="1" i="0">
                <a:solidFill>
                  <a:srgbClr val="1F7A3E"/>
                </a:solidFill>
                <a:latin typeface="Calibri"/>
                <a:ea typeface="Calibri"/>
                <a:cs typeface="Calibri"/>
              </a:defRPr>
            </a:pPr>
            <a:r>
              <a:t>Tours &amp; Travel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71279C40-AADE-4EA4-91AA-089F3FEC24A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457200" y="1733550"/>
            <a:ext cx="8229600" cy="590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/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ctr">
              <a:defRPr sz="3000" b="1" i="0">
                <a:solidFill>
                  <a:srgbClr val="1F7A3E"/>
                </a:solidFill>
                <a:latin typeface="Calibri"/>
                <a:ea typeface="Calibri"/>
                <a:cs typeface="Calibri"/>
              </a:defRPr>
            </a:pPr>
            <a:r>
              <a:t>Mobile Application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2E35F03F-8067-4EDC-81A2-57327FDCCE2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457200" y="2209800"/>
            <a:ext cx="82296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/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1350" b="0" i="1">
                <a:solidFill>
                  <a:srgbClr val="64748B"/>
                </a:solidFill>
                <a:latin typeface="Calibri"/>
                <a:ea typeface="Calibri"/>
                <a:cs typeface="Calibri"/>
              </a:defRPr>
            </a:pPr>
            <a:r>
              <a:t>A Smart Tourism Management &amp; Booking Platform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2465E666-87B4-4741-9D42-A71D0CCE494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1371600" y="2788920"/>
            <a:ext cx="6400800" cy="82296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/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ctr">
              <a:defRPr sz="1125" b="0" i="0">
                <a:solidFill>
                  <a:srgbClr val="1E293B"/>
                </a:solidFill>
                <a:latin typeface="Calibri"/>
                <a:ea typeface="Calibri"/>
                <a:cs typeface="Calibri"/>
              </a:defRPr>
            </a:pPr>
            <a:r>
              <a:t>Shahid Umer		AUIC-22SG-BSCS-6732</a:t>
            </a:r>
          </a:p>
          <a:p xmlns:a="http://schemas.openxmlformats.org/drawingml/2006/main">
            <a:pPr algn="ctr">
              <a:defRPr sz="1125" b="0" i="0">
                <a:solidFill>
                  <a:srgbClr val="1E293B"/>
                </a:solidFill>
                <a:latin typeface="Calibri"/>
                <a:ea typeface="Calibri"/>
                <a:cs typeface="Calibri"/>
              </a:defRPr>
            </a:pPr>
            <a:r>
              <a:t>Musharaf		AUIC-22SG-BSCS-7029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4A6F63A5-E325-458E-BA75-DC9577BB001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914400" y="4206240"/>
            <a:ext cx="7315200" cy="41148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/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ctr">
              <a:defRPr sz="1200" b="1" i="0">
                <a:solidFill>
                  <a:srgbClr val="1F7A3E"/>
                </a:solidFill>
                <a:latin typeface="Calibri"/>
                <a:ea typeface="Calibri"/>
                <a:cs typeface="Calibri"/>
              </a:defRPr>
            </a:pPr>
            <a:r>
              <a:t>Supervisor:   Dr. Amjad Khan</a:t>
            </a:r>
          </a:p>
        </p:txBody>
      </p:sp>
    </p:spTree>
    <p:extLst>
      <p:ext uri="{BB962C8B-B14F-4D97-AF65-F5344CB8AC3E}">
        <p14:creationId xmlns:p14="http://schemas.microsoft.com/office/powerpoint/2010/main" val="874325603"/>
      </p:ext>
    </p:extLst>
  </p:cSld>
</p:sld>
</file>

<file path=ppt/slides/slide2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pic>
        <p:nvPicPr>
          <p:cNvPr id="1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a5484db3b640473c"/>
          <a:stretch xmlns:a="http://schemas.openxmlformats.org/drawingml/2006/main"/>
        </p:blipFill>
        <p:spPr>
          <a:xfrm xmlns:a="http://schemas.openxmlformats.org/drawingml/2006/main">
            <a:off x="182880" y="114808"/>
            <a:ext cx="1280160" cy="547624"/>
          </a:xfrm>
          <a:prstGeom xmlns:a="http://schemas.openxmlformats.org/drawingml/2006/main" prst="rect">
            <a:avLst/>
          </a:prstGeom>
        </p:spPr>
      </p:pic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DEC1D123-251D-411E-9A04-3B9FBD9B0A8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1645920" y="190500"/>
            <a:ext cx="585216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/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ctr">
              <a:defRPr sz="2400" b="1" i="0">
                <a:solidFill>
                  <a:srgbClr val="1F7A3E"/>
                </a:solidFill>
                <a:latin typeface="Calibri"/>
                <a:ea typeface="Calibri"/>
                <a:cs typeface="Calibri"/>
              </a:defRPr>
            </a:pPr>
            <a:r>
              <a:t>Introduction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3C9A25F8-1B1F-4D82-97C4-5900CC4D3AD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2286000" y="4892040"/>
            <a:ext cx="4572000" cy="18288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/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ctr">
              <a:defRPr sz="675" b="0" i="0">
                <a:solidFill>
                  <a:srgbClr val="AAAAAA"/>
                </a:solidFill>
                <a:latin typeface="Calibri"/>
                <a:ea typeface="Calibri"/>
                <a:cs typeface="Calibri"/>
              </a:defRPr>
            </a:pPr>
            <a:r>
              <a:t>AUIC – CS/SE - FYP Presentation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298756AD-2F2F-4CCE-AAF1-169D5907420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8503920" y="4892040"/>
            <a:ext cx="457200" cy="18288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/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r">
              <a:defRPr sz="675" b="0" i="0">
                <a:solidFill>
                  <a:srgbClr val="AAAAAA"/>
                </a:solidFill>
                <a:latin typeface="Calibri"/>
                <a:ea typeface="Calibri"/>
                <a:cs typeface="Calibri"/>
              </a:defRPr>
            </a:pPr>
            <a:r>
              <a:t>2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3019C19A-5E4F-4571-A12B-76D8A7779CB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590550" y="1123950"/>
            <a:ext cx="2095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/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1050" b="1" i="0">
                <a:solidFill>
                  <a:srgbClr val="1E293B"/>
                </a:solidFill>
                <a:latin typeface="Calibri"/>
                <a:ea typeface="Calibri"/>
                <a:cs typeface="Calibri"/>
              </a:defRPr>
            </a:pPr>
            <a:r>
              <a:t>•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C1E5AF73-D30D-4F83-8668-28119FA73A9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857250" y="1123950"/>
            <a:ext cx="7410450" cy="49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/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050" b="0" i="0">
                <a:solidFill>
                  <a:srgbClr val="1E293B"/>
                </a:solidFill>
                <a:latin typeface="Calibri"/>
                <a:ea typeface="Calibri"/>
                <a:cs typeface="Calibri"/>
              </a:defRPr>
            </a:pPr>
            <a:r>
              <a:t>Tours &amp; Travel is a Flutter-based mobile application designed to unify destination discovery, hotel booking, transport planning, maps, and traveler support in one platform.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67528038-BCEC-4A39-94C2-33B53479B4E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590550" y="1657350"/>
            <a:ext cx="2095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/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1050" b="1" i="0">
                <a:solidFill>
                  <a:srgbClr val="1E293B"/>
                </a:solidFill>
                <a:latin typeface="Calibri"/>
                <a:ea typeface="Calibri"/>
                <a:cs typeface="Calibri"/>
              </a:defRPr>
            </a:pPr>
            <a:r>
              <a:t>•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A9112658-C380-4FAA-B65C-ED428BF8590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857250" y="1657350"/>
            <a:ext cx="7410450" cy="49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/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050" b="0" i="0">
                <a:solidFill>
                  <a:srgbClr val="1E293B"/>
                </a:solidFill>
                <a:latin typeface="Calibri"/>
                <a:ea typeface="Calibri"/>
                <a:cs typeface="Calibri"/>
              </a:defRPr>
            </a:pPr>
            <a:r>
              <a:t>The project targets Pakistan’s domestic tourism context, where users still depend on scattered sources for places, hotels, payments, and travel coordination.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838F540B-ED2C-4602-A24A-5FBF6DBE6B3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590550" y="2190750"/>
            <a:ext cx="2095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/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1050" b="1" i="0">
                <a:solidFill>
                  <a:srgbClr val="1E293B"/>
                </a:solidFill>
                <a:latin typeface="Calibri"/>
                <a:ea typeface="Calibri"/>
                <a:cs typeface="Calibri"/>
              </a:defRPr>
            </a:pPr>
            <a:r>
              <a:t>•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263F6262-46A3-4E97-8564-9B63CBC4244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857250" y="2190750"/>
            <a:ext cx="7410450" cy="49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/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050" b="0" i="0">
                <a:solidFill>
                  <a:srgbClr val="1E293B"/>
                </a:solidFill>
                <a:latin typeface="Calibri"/>
                <a:ea typeface="Calibri"/>
                <a:cs typeface="Calibri"/>
              </a:defRPr>
            </a:pPr>
            <a:r>
              <a:t>Core objective: build a modular academic prototype that demonstrates authentication, bookings, maps, profile management, booking history, and user-created listings.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2173B3B0-F820-49FF-8E98-1B34D4F639D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590550" y="2724150"/>
            <a:ext cx="2095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/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1050" b="1" i="0">
                <a:solidFill>
                  <a:srgbClr val="1E293B"/>
                </a:solidFill>
                <a:latin typeface="Calibri"/>
                <a:ea typeface="Calibri"/>
                <a:cs typeface="Calibri"/>
              </a:defRPr>
            </a:pPr>
            <a:r>
              <a:t>•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2970DF12-3B0E-4C33-BAEF-3F58FF1590A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857250" y="2724150"/>
            <a:ext cx="7410450" cy="49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/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050" b="0" i="0">
                <a:solidFill>
                  <a:srgbClr val="1E293B"/>
                </a:solidFill>
                <a:latin typeface="Calibri"/>
                <a:ea typeface="Calibri"/>
                <a:cs typeface="Calibri"/>
              </a:defRPr>
            </a:pPr>
            <a:r>
              <a:t>The system uses Flutter for the mobile interface and Firebase-backed services with local fallback support for stable final-year demonstration.</a:t>
            </a:r>
          </a:p>
        </p:txBody>
      </p:sp>
    </p:spTree>
    <p:extLst>
      <p:ext uri="{BB962C8B-B14F-4D97-AF65-F5344CB8AC3E}">
        <p14:creationId xmlns:p14="http://schemas.microsoft.com/office/powerpoint/2010/main" val="1105974750"/>
      </p:ext>
    </p:extLst>
  </p:cSld>
</p:sld>
</file>

<file path=ppt/slides/slide3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pic>
        <p:nvPicPr>
          <p:cNvPr id="1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d9553b967ceb4e06"/>
          <a:stretch xmlns:a="http://schemas.openxmlformats.org/drawingml/2006/main"/>
        </p:blipFill>
        <p:spPr>
          <a:xfrm xmlns:a="http://schemas.openxmlformats.org/drawingml/2006/main">
            <a:off x="182880" y="114808"/>
            <a:ext cx="1280160" cy="547624"/>
          </a:xfrm>
          <a:prstGeom xmlns:a="http://schemas.openxmlformats.org/drawingml/2006/main" prst="rect">
            <a:avLst/>
          </a:prstGeom>
        </p:spPr>
      </p:pic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8B4AA14F-4077-4BC1-B5FE-05AA73B4F00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1645920" y="190500"/>
            <a:ext cx="585216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/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ctr">
              <a:defRPr sz="2400" b="1" i="0">
                <a:solidFill>
                  <a:srgbClr val="1F7A3E"/>
                </a:solidFill>
                <a:latin typeface="Calibri"/>
                <a:ea typeface="Calibri"/>
                <a:cs typeface="Calibri"/>
              </a:defRPr>
            </a:pPr>
            <a:r>
              <a:t>Literature Review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559A98CD-BD36-450B-8AD8-05BC43058C3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2286000" y="4892040"/>
            <a:ext cx="4572000" cy="18288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/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ctr">
              <a:defRPr sz="675" b="0" i="0">
                <a:solidFill>
                  <a:srgbClr val="AAAAAA"/>
                </a:solidFill>
                <a:latin typeface="Calibri"/>
                <a:ea typeface="Calibri"/>
                <a:cs typeface="Calibri"/>
              </a:defRPr>
            </a:pPr>
            <a:r>
              <a:t>AUIC – CS/SE - FYP Presentation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F9736D6B-1666-464E-847D-A3E75762716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8503920" y="4892040"/>
            <a:ext cx="457200" cy="18288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/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r">
              <a:defRPr sz="675" b="0" i="0">
                <a:solidFill>
                  <a:srgbClr val="AAAAAA"/>
                </a:solidFill>
                <a:latin typeface="Calibri"/>
                <a:ea typeface="Calibri"/>
                <a:cs typeface="Calibri"/>
              </a:defRPr>
            </a:pPr>
            <a:r>
              <a:t>3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F84A1A61-B58B-444B-90F9-92053008DCB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476250" y="1047750"/>
            <a:ext cx="1238250" cy="285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F2937"/>
          </a:solidFill>
          <a:ln xmlns:a="http://schemas.openxmlformats.org/drawingml/2006/main" w="9525">
            <a:solidFill>
              <a:srgbClr val="FFFFFF"/>
            </a:solidFill>
          </a:ln>
        </p:spPr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DDD9D5D2-1F7A-45C7-ACD5-95F7145FBBC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552450" y="1104900"/>
            <a:ext cx="108585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/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l">
              <a:defRPr sz="900" b="1" i="0">
                <a:solidFill>
                  <a:srgbClr val="FFFFFF"/>
                </a:solidFill>
                <a:latin typeface="Calibri"/>
                <a:ea typeface="Calibri"/>
                <a:cs typeface="Calibri"/>
              </a:defRPr>
            </a:pPr>
            <a:r>
              <a:t>App / System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36E3965F-D7CF-409C-8C7C-1B3CF2A9F67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1714500" y="1047750"/>
            <a:ext cx="1952625" cy="285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F2937"/>
          </a:solidFill>
          <a:ln xmlns:a="http://schemas.openxmlformats.org/drawingml/2006/main" w="9525">
            <a:solidFill>
              <a:srgbClr val="FFFFFF"/>
            </a:solidFill>
          </a:ln>
        </p:spPr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3F35CB88-B810-4BBF-8C10-61F2CD4CAFC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1790700" y="1104900"/>
            <a:ext cx="1800225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/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l">
              <a:defRPr sz="900" b="1" i="0">
                <a:solidFill>
                  <a:srgbClr val="FFFFFF"/>
                </a:solidFill>
                <a:latin typeface="Calibri"/>
                <a:ea typeface="Calibri"/>
                <a:cs typeface="Calibri"/>
              </a:defRPr>
            </a:pPr>
            <a:r>
              <a:t>It Gives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FF05854F-C474-40D7-BE15-302F2F6EA7D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3667125" y="1047750"/>
            <a:ext cx="1714500" cy="285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F2937"/>
          </a:solidFill>
          <a:ln xmlns:a="http://schemas.openxmlformats.org/drawingml/2006/main" w="9525">
            <a:solidFill>
              <a:srgbClr val="FFFFFF"/>
            </a:solidFill>
          </a:ln>
        </p:spPr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1EF405A6-4DD4-4942-9936-B2F991FF321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3743325" y="1104900"/>
            <a:ext cx="15621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/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l">
              <a:defRPr sz="900" b="1" i="0">
                <a:solidFill>
                  <a:srgbClr val="FFFFFF"/>
                </a:solidFill>
                <a:latin typeface="Calibri"/>
                <a:ea typeface="Calibri"/>
                <a:cs typeface="Calibri"/>
              </a:defRPr>
            </a:pPr>
            <a:r>
              <a:t>Gap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AE979411-955E-480C-A64E-4C7E2868E15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5381625" y="1047750"/>
            <a:ext cx="3286125" cy="285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F2937"/>
          </a:solidFill>
          <a:ln xmlns:a="http://schemas.openxmlformats.org/drawingml/2006/main" w="9525">
            <a:solidFill>
              <a:srgbClr val="FFFFFF"/>
            </a:solidFill>
          </a:ln>
        </p:spPr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CEBFF8A6-6792-4D82-96EF-A25E1357569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5457825" y="1104900"/>
            <a:ext cx="3133725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/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l">
              <a:defRPr sz="900" b="1" i="0">
                <a:solidFill>
                  <a:srgbClr val="FFFFFF"/>
                </a:solidFill>
                <a:latin typeface="Calibri"/>
                <a:ea typeface="Calibri"/>
                <a:cs typeface="Calibri"/>
              </a:defRPr>
            </a:pPr>
            <a:r>
              <a:t>Our App Gives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35C249C6-FBF6-4329-ABFB-FA8304E4DFD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476250" y="1333500"/>
            <a:ext cx="1238250" cy="590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6"/>
            </a:solidFill>
          </a:ln>
        </p:spPr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587C9AC1-4383-4192-9955-4DE03C341F7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552450" y="1390650"/>
            <a:ext cx="1085850" cy="476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/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l">
              <a:defRPr sz="750" b="1" i="0">
                <a:solidFill>
                  <a:srgbClr val="1E293B"/>
                </a:solidFill>
                <a:latin typeface="Calibri"/>
                <a:ea typeface="Calibri"/>
                <a:cs typeface="Calibri"/>
              </a:defRPr>
            </a:pPr>
            <a:r>
              <a:t>Booking.com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37C336E2-913A-45C0-B876-E9FF03E45C5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1714500" y="1333500"/>
            <a:ext cx="1952625" cy="590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6"/>
            </a:solidFill>
          </a:ln>
        </p:spPr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F7FDE2BF-FBE5-4E9C-BAB7-16F8B084C35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1790700" y="1390650"/>
            <a:ext cx="1800225" cy="476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/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l">
              <a:defRPr sz="750" b="0" i="0">
                <a:solidFill>
                  <a:srgbClr val="1E293B"/>
                </a:solidFill>
                <a:latin typeface="Calibri"/>
                <a:ea typeface="Calibri"/>
                <a:cs typeface="Calibri"/>
              </a:defRPr>
            </a:pPr>
            <a:r>
              <a:t>Hotels, stays, flights, car rentals, and guest reviews.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58C02AAA-8984-4A65-AC4A-F2AEA0EDF0D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3667125" y="1333500"/>
            <a:ext cx="1714500" cy="590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6"/>
            </a:solidFill>
          </a:ln>
        </p:spPr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7AFA5F18-0CC1-4E3A-B3A0-C65E69D9B90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3743325" y="1390650"/>
            <a:ext cx="1562100" cy="476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/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l">
              <a:defRPr sz="750" b="0" i="0">
                <a:solidFill>
                  <a:srgbClr val="1E293B"/>
                </a:solidFill>
                <a:latin typeface="Calibri"/>
                <a:ea typeface="Calibri"/>
                <a:cs typeface="Calibri"/>
              </a:defRPr>
            </a:pPr>
            <a:r>
              <a:t>Strong booking app, but not one local tourism flow for our project scope.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F197E5C4-CA16-4C53-9F0B-88E2A2C875D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5381625" y="1333500"/>
            <a:ext cx="3286125" cy="590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6"/>
            </a:solidFill>
          </a:ln>
        </p:spPr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0C7E4A99-0AB8-4377-9C48-919C5FD3442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5457825" y="1390650"/>
            <a:ext cx="3133725" cy="476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/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l">
              <a:defRPr sz="750" b="0" i="0">
                <a:solidFill>
                  <a:srgbClr val="1E293B"/>
                </a:solidFill>
                <a:latin typeface="Calibri"/>
                <a:ea typeface="Calibri"/>
                <a:cs typeface="Calibri"/>
              </a:defRPr>
            </a:pPr>
            <a:r>
              <a:t>We give destination browsing, hotel booking flow, maps, profile, and booking history in one app.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5A28B109-E1FB-4B12-B48A-1D1832C0B16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476250" y="1924050"/>
            <a:ext cx="1238250" cy="590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6"/>
            </a:solidFill>
          </a:ln>
        </p:spPr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B4695401-96E6-4012-A716-0352CFB53B7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552450" y="1981200"/>
            <a:ext cx="1085850" cy="476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/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l">
              <a:defRPr sz="750" b="1" i="0">
                <a:solidFill>
                  <a:srgbClr val="1E293B"/>
                </a:solidFill>
                <a:latin typeface="Calibri"/>
                <a:ea typeface="Calibri"/>
                <a:cs typeface="Calibri"/>
              </a:defRPr>
            </a:pPr>
            <a:r>
              <a:t>Agoda</a:t>
            </a:r>
          </a:p>
        </p:txBody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FB9923CF-31BF-448A-AF90-89FD9BE48AF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1714500" y="1924050"/>
            <a:ext cx="1952625" cy="590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6"/>
            </a:solidFill>
          </a:ln>
        </p:spPr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EC1E1E94-F81B-49CD-A672-D1E74F2313D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1790700" y="1981200"/>
            <a:ext cx="1800225" cy="476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/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l">
              <a:defRPr sz="750" b="0" i="0">
                <a:solidFill>
                  <a:srgbClr val="1E293B"/>
                </a:solidFill>
                <a:latin typeface="Calibri"/>
                <a:ea typeface="Calibri"/>
                <a:cs typeface="Calibri"/>
              </a:defRPr>
            </a:pPr>
            <a:r>
              <a:t>Hotels, homes, flights, transport, and activities.</a:t>
            </a:r>
          </a:p>
        </p:txBody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CBE222D5-2855-44FB-8AA0-2A3B8C25417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3667125" y="1924050"/>
            <a:ext cx="1714500" cy="590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6"/>
            </a:solidFill>
          </a:ln>
        </p:spPr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B0C0711F-FDFB-4AD7-8571-3B6B629A77B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3743325" y="1981200"/>
            <a:ext cx="1562100" cy="476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/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l">
              <a:defRPr sz="750" b="0" i="0">
                <a:solidFill>
                  <a:srgbClr val="1E293B"/>
                </a:solidFill>
                <a:latin typeface="Calibri"/>
                <a:ea typeface="Calibri"/>
                <a:cs typeface="Calibri"/>
              </a:defRPr>
            </a:pPr>
            <a:r>
              <a:t>Good travel deals app, but not focused on one local tourism workflow.</a:t>
            </a:r>
          </a:p>
        </p:txBody>
      </p:sp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516E186D-EC9B-406D-A19B-5199D4CAD69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5381625" y="1924050"/>
            <a:ext cx="3286125" cy="590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6"/>
            </a:solidFill>
          </a:ln>
        </p:spPr>
      </p:sp>
      <p:sp>
        <p:nvSpPr>
          <p:cNvPr id="28" name="">
            <a:extLst xmlns:a="http://schemas.openxmlformats.org/drawingml/2006/main">
              <a:ext uri="{FF2B5EF4-FFF2-40B4-BE49-F238E27FC236}">
                <a16:creationId xmlns:a16="http://schemas.microsoft.com/office/drawing/2014/main" id="{B5982F18-A0DE-4A6B-BD84-B323B135D66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5457825" y="1981200"/>
            <a:ext cx="3133725" cy="476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/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l">
              <a:defRPr sz="750" b="0" i="0">
                <a:solidFill>
                  <a:srgbClr val="1E293B"/>
                </a:solidFill>
                <a:latin typeface="Calibri"/>
                <a:ea typeface="Calibri"/>
                <a:cs typeface="Calibri"/>
              </a:defRPr>
            </a:pPr>
            <a:r>
              <a:t>We give local destination details, booking support, maps, and user account features in one system.</a:t>
            </a:r>
          </a:p>
        </p:txBody>
      </p:sp>
      <p:sp>
        <p:nvSpPr>
          <p:cNvPr id="29" name="">
            <a:extLst xmlns:a="http://schemas.openxmlformats.org/drawingml/2006/main">
              <a:ext uri="{FF2B5EF4-FFF2-40B4-BE49-F238E27FC236}">
                <a16:creationId xmlns:a16="http://schemas.microsoft.com/office/drawing/2014/main" id="{98317622-65A6-45CC-ACE1-02A400F1529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476250" y="2514600"/>
            <a:ext cx="1238250" cy="590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6"/>
            </a:solidFill>
          </a:ln>
        </p:spPr>
      </p:sp>
      <p:sp>
        <p:nvSpPr>
          <p:cNvPr id="30" name="">
            <a:extLst xmlns:a="http://schemas.openxmlformats.org/drawingml/2006/main">
              <a:ext uri="{FF2B5EF4-FFF2-40B4-BE49-F238E27FC236}">
                <a16:creationId xmlns:a16="http://schemas.microsoft.com/office/drawing/2014/main" id="{DA1DB477-B14E-48F1-9967-D9526118136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552450" y="2571750"/>
            <a:ext cx="1085850" cy="476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/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l">
              <a:defRPr sz="750" b="1" i="0">
                <a:solidFill>
                  <a:srgbClr val="1E293B"/>
                </a:solidFill>
                <a:latin typeface="Calibri"/>
                <a:ea typeface="Calibri"/>
                <a:cs typeface="Calibri"/>
              </a:defRPr>
            </a:pPr>
            <a:r>
              <a:t>Expedia</a:t>
            </a:r>
          </a:p>
        </p:txBody>
      </p:sp>
      <p:sp>
        <p:nvSpPr>
          <p:cNvPr id="31" name="">
            <a:extLst xmlns:a="http://schemas.openxmlformats.org/drawingml/2006/main">
              <a:ext uri="{FF2B5EF4-FFF2-40B4-BE49-F238E27FC236}">
                <a16:creationId xmlns:a16="http://schemas.microsoft.com/office/drawing/2014/main" id="{11EC6B27-512C-409D-BAA2-16FA7F29202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1714500" y="2514600"/>
            <a:ext cx="1952625" cy="590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6"/>
            </a:solidFill>
          </a:ln>
        </p:spPr>
      </p:sp>
      <p:sp>
        <p:nvSpPr>
          <p:cNvPr id="32" name="">
            <a:extLst xmlns:a="http://schemas.openxmlformats.org/drawingml/2006/main">
              <a:ext uri="{FF2B5EF4-FFF2-40B4-BE49-F238E27FC236}">
                <a16:creationId xmlns:a16="http://schemas.microsoft.com/office/drawing/2014/main" id="{4FD232DD-1870-4C82-9AB7-2787C8E8A4B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1790700" y="2571750"/>
            <a:ext cx="1800225" cy="476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/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l">
              <a:defRPr sz="750" b="0" i="0">
                <a:solidFill>
                  <a:srgbClr val="1E293B"/>
                </a:solidFill>
                <a:latin typeface="Calibri"/>
                <a:ea typeface="Calibri"/>
                <a:cs typeface="Calibri"/>
              </a:defRPr>
            </a:pPr>
            <a:r>
              <a:t>Stays, flights, cars, packages, and things to do.</a:t>
            </a:r>
          </a:p>
        </p:txBody>
      </p:sp>
      <p:sp>
        <p:nvSpPr>
          <p:cNvPr id="33" name="">
            <a:extLst xmlns:a="http://schemas.openxmlformats.org/drawingml/2006/main">
              <a:ext uri="{FF2B5EF4-FFF2-40B4-BE49-F238E27FC236}">
                <a16:creationId xmlns:a16="http://schemas.microsoft.com/office/drawing/2014/main" id="{E18786D1-4187-401A-BB50-84BC83DA5F7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3667125" y="2514600"/>
            <a:ext cx="1714500" cy="590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6"/>
            </a:solidFill>
          </a:ln>
        </p:spPr>
      </p:sp>
      <p:sp>
        <p:nvSpPr>
          <p:cNvPr id="34" name="">
            <a:extLst xmlns:a="http://schemas.openxmlformats.org/drawingml/2006/main">
              <a:ext uri="{FF2B5EF4-FFF2-40B4-BE49-F238E27FC236}">
                <a16:creationId xmlns:a16="http://schemas.microsoft.com/office/drawing/2014/main" id="{42903D6F-23D5-463C-AE42-B8789694931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3743325" y="2571750"/>
            <a:ext cx="1562100" cy="476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/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l">
              <a:defRPr sz="750" b="0" i="0">
                <a:solidFill>
                  <a:srgbClr val="1E293B"/>
                </a:solidFill>
                <a:latin typeface="Calibri"/>
                <a:ea typeface="Calibri"/>
                <a:cs typeface="Calibri"/>
              </a:defRPr>
            </a:pPr>
            <a:r>
              <a:t>Strong global travel bundles, but not tailored to our local academic use case.</a:t>
            </a:r>
          </a:p>
        </p:txBody>
      </p:sp>
      <p:sp>
        <p:nvSpPr>
          <p:cNvPr id="35" name="">
            <a:extLst xmlns:a="http://schemas.openxmlformats.org/drawingml/2006/main">
              <a:ext uri="{FF2B5EF4-FFF2-40B4-BE49-F238E27FC236}">
                <a16:creationId xmlns:a16="http://schemas.microsoft.com/office/drawing/2014/main" id="{A35EF9D4-62A9-4324-807E-35345F744C2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5381625" y="2514600"/>
            <a:ext cx="3286125" cy="590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6"/>
            </a:solidFill>
          </a:ln>
        </p:spPr>
      </p:sp>
      <p:sp>
        <p:nvSpPr>
          <p:cNvPr id="36" name="">
            <a:extLst xmlns:a="http://schemas.openxmlformats.org/drawingml/2006/main">
              <a:ext uri="{FF2B5EF4-FFF2-40B4-BE49-F238E27FC236}">
                <a16:creationId xmlns:a16="http://schemas.microsoft.com/office/drawing/2014/main" id="{8860271D-8C85-432A-833B-197BD8914CA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5457825" y="2571750"/>
            <a:ext cx="3133725" cy="476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/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l">
              <a:defRPr sz="750" b="0" i="0">
                <a:solidFill>
                  <a:srgbClr val="1E293B"/>
                </a:solidFill>
                <a:latin typeface="Calibri"/>
                <a:ea typeface="Calibri"/>
                <a:cs typeface="Calibri"/>
              </a:defRPr>
            </a:pPr>
            <a:r>
              <a:t>We combine destination exploration, hotel flow, profile, and booking history in one app.</a:t>
            </a:r>
          </a:p>
        </p:txBody>
      </p:sp>
      <p:sp>
        <p:nvSpPr>
          <p:cNvPr id="37" name="">
            <a:extLst xmlns:a="http://schemas.openxmlformats.org/drawingml/2006/main">
              <a:ext uri="{FF2B5EF4-FFF2-40B4-BE49-F238E27FC236}">
                <a16:creationId xmlns:a16="http://schemas.microsoft.com/office/drawing/2014/main" id="{10EA5A2F-EFA7-4032-A335-9C8840544F1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476250" y="3105150"/>
            <a:ext cx="1238250" cy="590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6"/>
            </a:solidFill>
          </a:ln>
        </p:spPr>
      </p:sp>
      <p:sp>
        <p:nvSpPr>
          <p:cNvPr id="38" name="">
            <a:extLst xmlns:a="http://schemas.openxmlformats.org/drawingml/2006/main">
              <a:ext uri="{FF2B5EF4-FFF2-40B4-BE49-F238E27FC236}">
                <a16:creationId xmlns:a16="http://schemas.microsoft.com/office/drawing/2014/main" id="{E266878A-AD5B-4B1C-BD7C-944167C0BFA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552450" y="3162300"/>
            <a:ext cx="1085850" cy="476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/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l">
              <a:defRPr sz="750" b="1" i="0">
                <a:solidFill>
                  <a:srgbClr val="1E293B"/>
                </a:solidFill>
                <a:latin typeface="Calibri"/>
                <a:ea typeface="Calibri"/>
                <a:cs typeface="Calibri"/>
              </a:defRPr>
            </a:pPr>
            <a:r>
              <a:t>Trip.com</a:t>
            </a:r>
          </a:p>
        </p:txBody>
      </p:sp>
      <p:sp>
        <p:nvSpPr>
          <p:cNvPr id="39" name="">
            <a:extLst xmlns:a="http://schemas.openxmlformats.org/drawingml/2006/main">
              <a:ext uri="{FF2B5EF4-FFF2-40B4-BE49-F238E27FC236}">
                <a16:creationId xmlns:a16="http://schemas.microsoft.com/office/drawing/2014/main" id="{1F2D55C6-2BF1-469E-AAD7-9123A360627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1714500" y="3105150"/>
            <a:ext cx="1952625" cy="590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6"/>
            </a:solidFill>
          </a:ln>
        </p:spPr>
      </p:sp>
      <p:sp>
        <p:nvSpPr>
          <p:cNvPr id="40" name="">
            <a:extLst xmlns:a="http://schemas.openxmlformats.org/drawingml/2006/main">
              <a:ext uri="{FF2B5EF4-FFF2-40B4-BE49-F238E27FC236}">
                <a16:creationId xmlns:a16="http://schemas.microsoft.com/office/drawing/2014/main" id="{A810FD3A-C5C7-445C-B330-C378E3253F1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1790700" y="3162300"/>
            <a:ext cx="1800225" cy="476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/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l">
              <a:defRPr sz="750" b="0" i="0">
                <a:solidFill>
                  <a:srgbClr val="1E293B"/>
                </a:solidFill>
                <a:latin typeface="Calibri"/>
                <a:ea typeface="Calibri"/>
                <a:cs typeface="Calibri"/>
              </a:defRPr>
            </a:pPr>
            <a:r>
              <a:t>Hotels, flights, trains, attractions, and travel deals.</a:t>
            </a:r>
          </a:p>
        </p:txBody>
      </p:sp>
      <p:sp>
        <p:nvSpPr>
          <p:cNvPr id="41" name="">
            <a:extLst xmlns:a="http://schemas.openxmlformats.org/drawingml/2006/main">
              <a:ext uri="{FF2B5EF4-FFF2-40B4-BE49-F238E27FC236}">
                <a16:creationId xmlns:a16="http://schemas.microsoft.com/office/drawing/2014/main" id="{AC92BACC-EEFD-4FCA-B7F7-0A6E7600EB9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3667125" y="3105150"/>
            <a:ext cx="1714500" cy="590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6"/>
            </a:solidFill>
          </a:ln>
        </p:spPr>
      </p:sp>
      <p:sp>
        <p:nvSpPr>
          <p:cNvPr id="42" name="">
            <a:extLst xmlns:a="http://schemas.openxmlformats.org/drawingml/2006/main">
              <a:ext uri="{FF2B5EF4-FFF2-40B4-BE49-F238E27FC236}">
                <a16:creationId xmlns:a16="http://schemas.microsoft.com/office/drawing/2014/main" id="{AFDA3CA1-DD74-42E6-A681-CB1621545F6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3743325" y="3162300"/>
            <a:ext cx="1562100" cy="476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/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l">
              <a:defRPr sz="750" b="0" i="0">
                <a:solidFill>
                  <a:srgbClr val="1E293B"/>
                </a:solidFill>
                <a:latin typeface="Calibri"/>
                <a:ea typeface="Calibri"/>
                <a:cs typeface="Calibri"/>
              </a:defRPr>
            </a:pPr>
            <a:r>
              <a:t>Strong international app, but it does not match our single local tourism demo flow.</a:t>
            </a:r>
          </a:p>
        </p:txBody>
      </p:sp>
      <p:sp>
        <p:nvSpPr>
          <p:cNvPr id="43" name="">
            <a:extLst xmlns:a="http://schemas.openxmlformats.org/drawingml/2006/main">
              <a:ext uri="{FF2B5EF4-FFF2-40B4-BE49-F238E27FC236}">
                <a16:creationId xmlns:a16="http://schemas.microsoft.com/office/drawing/2014/main" id="{A1B94DD5-CED0-4B05-9D81-B7EA5912DFF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5381625" y="3105150"/>
            <a:ext cx="3286125" cy="590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6"/>
            </a:solidFill>
          </a:ln>
        </p:spPr>
      </p:sp>
      <p:sp>
        <p:nvSpPr>
          <p:cNvPr id="44" name="">
            <a:extLst xmlns:a="http://schemas.openxmlformats.org/drawingml/2006/main">
              <a:ext uri="{FF2B5EF4-FFF2-40B4-BE49-F238E27FC236}">
                <a16:creationId xmlns:a16="http://schemas.microsoft.com/office/drawing/2014/main" id="{54252669-AAC5-4DDF-8968-486732513DE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5457825" y="3162300"/>
            <a:ext cx="3133725" cy="476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/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l">
              <a:defRPr sz="750" b="0" i="0">
                <a:solidFill>
                  <a:srgbClr val="1E293B"/>
                </a:solidFill>
                <a:latin typeface="Calibri"/>
                <a:ea typeface="Calibri"/>
                <a:cs typeface="Calibri"/>
              </a:defRPr>
            </a:pPr>
            <a:r>
              <a:t>We give maps, local destinations, hotel booking support, profile, and booking history together.</a:t>
            </a:r>
          </a:p>
        </p:txBody>
      </p:sp>
      <p:sp>
        <p:nvSpPr>
          <p:cNvPr id="45" name="">
            <a:extLst xmlns:a="http://schemas.openxmlformats.org/drawingml/2006/main">
              <a:ext uri="{FF2B5EF4-FFF2-40B4-BE49-F238E27FC236}">
                <a16:creationId xmlns:a16="http://schemas.microsoft.com/office/drawing/2014/main" id="{AD1DE00B-63D0-480E-9A37-638B28D0B8A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609600" y="4152900"/>
            <a:ext cx="792480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/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750" b="0" i="1">
                <a:solidFill>
                  <a:srgbClr val="64748B"/>
                </a:solidFill>
                <a:latin typeface="Calibri"/>
                <a:ea typeface="Calibri"/>
                <a:cs typeface="Calibri"/>
              </a:defRPr>
            </a:pPr>
            <a:r>
              <a:t>Summary: existing apps provide strong global booking services, while our app combines local destination discovery, hotel flow, maps, profile, and booking history in one academic mobile app.</a:t>
            </a:r>
          </a:p>
        </p:txBody>
      </p:sp>
    </p:spTree>
    <p:extLst>
      <p:ext uri="{BB962C8B-B14F-4D97-AF65-F5344CB8AC3E}">
        <p14:creationId xmlns:p14="http://schemas.microsoft.com/office/powerpoint/2010/main" val="207221235"/>
      </p:ext>
    </p:extLst>
  </p:cSld>
</p:sld>
</file>

<file path=ppt/slides/slide4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pic>
        <p:nvPicPr>
          <p:cNvPr id="1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b055ded5935e4b8b"/>
          <a:stretch xmlns:a="http://schemas.openxmlformats.org/drawingml/2006/main"/>
        </p:blipFill>
        <p:spPr>
          <a:xfrm xmlns:a="http://schemas.openxmlformats.org/drawingml/2006/main">
            <a:off x="182880" y="114808"/>
            <a:ext cx="1280160" cy="547624"/>
          </a:xfrm>
          <a:prstGeom xmlns:a="http://schemas.openxmlformats.org/drawingml/2006/main" prst="rect">
            <a:avLst/>
          </a:prstGeom>
        </p:spPr>
      </p:pic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688ED64E-441D-47B3-BA27-7D2E9F26A5F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1645920" y="190500"/>
            <a:ext cx="585216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/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ctr">
              <a:defRPr sz="2400" b="1" i="0">
                <a:solidFill>
                  <a:srgbClr val="1F7A3E"/>
                </a:solidFill>
                <a:latin typeface="Calibri"/>
                <a:ea typeface="Calibri"/>
                <a:cs typeface="Calibri"/>
              </a:defRPr>
            </a:pPr>
            <a:r>
              <a:t>Problem Statement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A2F2DF99-F152-48A2-9692-3D37066D8ED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2286000" y="4892040"/>
            <a:ext cx="4572000" cy="18288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/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ctr">
              <a:defRPr sz="675" b="0" i="0">
                <a:solidFill>
                  <a:srgbClr val="AAAAAA"/>
                </a:solidFill>
                <a:latin typeface="Calibri"/>
                <a:ea typeface="Calibri"/>
                <a:cs typeface="Calibri"/>
              </a:defRPr>
            </a:pPr>
            <a:r>
              <a:t>AUIC – CS/SE - FYP Presentation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F18522C5-90C8-48AC-BCCF-4111A19C167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8503920" y="4892040"/>
            <a:ext cx="457200" cy="18288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/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r">
              <a:defRPr sz="675" b="0" i="0">
                <a:solidFill>
                  <a:srgbClr val="AAAAAA"/>
                </a:solidFill>
                <a:latin typeface="Calibri"/>
                <a:ea typeface="Calibri"/>
                <a:cs typeface="Calibri"/>
              </a:defRPr>
            </a:pPr>
            <a:r>
              <a:t>4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A0FAB9A4-8A55-448B-BF14-5B1E4B01320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904875" y="1104900"/>
            <a:ext cx="7334250" cy="685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/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050" b="0" i="0">
                <a:solidFill>
                  <a:srgbClr val="1E293B"/>
                </a:solidFill>
                <a:latin typeface="Calibri"/>
                <a:ea typeface="Calibri"/>
                <a:cs typeface="Calibri"/>
              </a:defRPr>
            </a:pPr>
            <a:r>
              <a:t>Pakistan’s tourism planning process is still fragmented and semi-manual. Users discover destinations on one platform, research hotels somewhere else, arrange transport separately, and confirm details through calls or messages.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CD17C519-C102-45A1-9D5C-A47FCFB9AD8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904875" y="1847850"/>
            <a:ext cx="7334250" cy="685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/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050" b="0" i="0">
                <a:solidFill>
                  <a:srgbClr val="1E293B"/>
                </a:solidFill>
                <a:latin typeface="Calibri"/>
                <a:ea typeface="Calibri"/>
                <a:cs typeface="Calibri"/>
              </a:defRPr>
            </a:pPr>
            <a:r>
              <a:t>There is no single user-friendly mobile application that lets travelers move smoothly from exploration to booking confirmation while also supporting maps, profile data, booking history, and service listings.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1C784A28-6B00-4E73-BF8D-8E09CBD0C98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904875" y="2590800"/>
            <a:ext cx="7334250" cy="685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/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050" b="0" i="0">
                <a:solidFill>
                  <a:srgbClr val="1E293B"/>
                </a:solidFill>
                <a:latin typeface="Calibri"/>
                <a:ea typeface="Calibri"/>
                <a:cs typeface="Calibri"/>
              </a:defRPr>
            </a:pPr>
            <a:r>
              <a:t>This creates repeated data entry, weak cost visibility, inconsistent communication, and lower trust for both users and service providers. The project addresses that gap through one integrated tourism app prototype.</a:t>
            </a:r>
          </a:p>
        </p:txBody>
      </p:sp>
    </p:spTree>
    <p:extLst>
      <p:ext uri="{BB962C8B-B14F-4D97-AF65-F5344CB8AC3E}">
        <p14:creationId xmlns:p14="http://schemas.microsoft.com/office/powerpoint/2010/main" val="1315198471"/>
      </p:ext>
    </p:extLst>
  </p:cSld>
</p:sld>
</file>

<file path=ppt/slides/slide5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pic>
        <p:nvPicPr>
          <p:cNvPr id="1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1504a9bdf99a4749"/>
          <a:stretch xmlns:a="http://schemas.openxmlformats.org/drawingml/2006/main"/>
        </p:blipFill>
        <p:spPr>
          <a:xfrm xmlns:a="http://schemas.openxmlformats.org/drawingml/2006/main">
            <a:off x="182880" y="114808"/>
            <a:ext cx="1280160" cy="547624"/>
          </a:xfrm>
          <a:prstGeom xmlns:a="http://schemas.openxmlformats.org/drawingml/2006/main" prst="rect">
            <a:avLst/>
          </a:prstGeom>
        </p:spPr>
      </p:pic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52B25A39-C3D5-41C2-9AAA-E9C6F171895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1645920" y="190500"/>
            <a:ext cx="585216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/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ctr">
              <a:defRPr sz="2400" b="1" i="0">
                <a:solidFill>
                  <a:srgbClr val="1F7A3E"/>
                </a:solidFill>
                <a:latin typeface="Calibri"/>
                <a:ea typeface="Calibri"/>
                <a:cs typeface="Calibri"/>
              </a:defRPr>
            </a:pPr>
            <a:r>
              <a:t>Methodology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9DDD4850-AEC5-43A0-8C18-CA8B48F1A20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274320" y="685800"/>
            <a:ext cx="859536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/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975" b="1" i="0">
                <a:solidFill>
                  <a:srgbClr val="1E293B"/>
                </a:solidFill>
                <a:latin typeface="Calibri"/>
                <a:ea typeface="Calibri"/>
                <a:cs typeface="Calibri"/>
              </a:defRPr>
            </a:pPr>
            <a:r>
              <a:t>Academic software engineering approach — requirement-driven, modular, and iterative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B12650E9-70FA-4A6A-ADC7-0AF99D396C8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2286000" y="4892040"/>
            <a:ext cx="4572000" cy="18288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/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ctr">
              <a:defRPr sz="675" b="0" i="0">
                <a:solidFill>
                  <a:srgbClr val="AAAAAA"/>
                </a:solidFill>
                <a:latin typeface="Calibri"/>
                <a:ea typeface="Calibri"/>
                <a:cs typeface="Calibri"/>
              </a:defRPr>
            </a:pPr>
            <a:r>
              <a:t>AUIC – CS/SE - FYP Presentation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61008FE5-11FA-4CAF-BF2D-B4ACBD90730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8503920" y="4892040"/>
            <a:ext cx="457200" cy="18288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/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r">
              <a:defRPr sz="675" b="0" i="0">
                <a:solidFill>
                  <a:srgbClr val="AAAAAA"/>
                </a:solidFill>
                <a:latin typeface="Calibri"/>
                <a:ea typeface="Calibri"/>
                <a:cs typeface="Calibri"/>
              </a:defRPr>
            </a:pPr>
            <a:r>
              <a:t>5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F641FB60-F6F1-484B-BAAE-1AA3156C418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228600" y="1188720"/>
            <a:ext cx="4206240" cy="347472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F2937"/>
          </a:solidFill>
          <a:ln xmlns:a="http://schemas.openxmlformats.org/drawingml/2006/main" w="0"/>
        </p:spPr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668F9F00-C1D8-451D-B48D-4BC34012A53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409575" y="1264920"/>
            <a:ext cx="38100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/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900" b="1" i="0">
                <a:solidFill>
                  <a:srgbClr val="FFFFFF"/>
                </a:solidFill>
                <a:latin typeface="Calibri"/>
                <a:ea typeface="Calibri"/>
                <a:cs typeface="Calibri"/>
              </a:defRPr>
            </a:pPr>
            <a:r>
              <a:t>Requirement Engineering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45EAEFAE-2B19-4862-A416-A6070623B54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4663440" y="1188720"/>
            <a:ext cx="4206240" cy="347472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F2937"/>
          </a:solidFill>
          <a:ln xmlns:a="http://schemas.openxmlformats.org/drawingml/2006/main" w="0"/>
        </p:spPr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26CF70D5-7EB1-4D99-BF3D-3136ED08FE6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4844415" y="1264920"/>
            <a:ext cx="38100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/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900" b="1" i="0">
                <a:solidFill>
                  <a:srgbClr val="FFFFFF"/>
                </a:solidFill>
                <a:latin typeface="Calibri"/>
                <a:ea typeface="Calibri"/>
                <a:cs typeface="Calibri"/>
              </a:defRPr>
            </a:pPr>
            <a:r>
              <a:t>Core Feature Modules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338A9381-B7E1-45D9-A24B-9BA85966561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228600" y="3017520"/>
            <a:ext cx="4206240" cy="347472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F2937"/>
          </a:solidFill>
          <a:ln xmlns:a="http://schemas.openxmlformats.org/drawingml/2006/main" w="0"/>
        </p:spPr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4506AB2B-351A-407F-BC8A-0CC2A08022C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409575" y="3093720"/>
            <a:ext cx="38100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/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900" b="1" i="0">
                <a:solidFill>
                  <a:srgbClr val="FFFFFF"/>
                </a:solidFill>
                <a:latin typeface="Calibri"/>
                <a:ea typeface="Calibri"/>
                <a:cs typeface="Calibri"/>
              </a:defRPr>
            </a:pPr>
            <a:r>
              <a:t>Data &amp; Service Layer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00C3F037-714C-4780-8803-79378B9B6E2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4663440" y="3017520"/>
            <a:ext cx="4206240" cy="347472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F2937"/>
          </a:solidFill>
          <a:ln xmlns:a="http://schemas.openxmlformats.org/drawingml/2006/main" w="0"/>
        </p:spPr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09F0C4F2-F760-4C8D-8704-6C254719D2A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4844415" y="3093720"/>
            <a:ext cx="38100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/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900" b="1" i="0">
                <a:solidFill>
                  <a:srgbClr val="FFFFFF"/>
                </a:solidFill>
                <a:latin typeface="Calibri"/>
                <a:ea typeface="Calibri"/>
                <a:cs typeface="Calibri"/>
              </a:defRPr>
            </a:pPr>
            <a:r>
              <a:t>Testing &amp; Validation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3D9B110C-64A7-434B-8273-66A767AEEF4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365760" y="1952625"/>
            <a:ext cx="2095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/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1050" b="1" i="0">
                <a:solidFill>
                  <a:srgbClr val="1E293B"/>
                </a:solidFill>
                <a:latin typeface="Calibri"/>
                <a:ea typeface="Calibri"/>
                <a:cs typeface="Calibri"/>
              </a:defRPr>
            </a:pPr>
            <a:r>
              <a:t>•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79BC2F73-D545-4172-A9D8-0B6EAE2D7EE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632460" y="1952625"/>
            <a:ext cx="3665220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/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900" b="1" i="0">
                <a:solidFill>
                  <a:srgbClr val="1E293B"/>
                </a:solidFill>
                <a:latin typeface="Calibri"/>
                <a:ea typeface="Calibri"/>
                <a:cs typeface="Calibri"/>
              </a:defRPr>
            </a:pPr>
            <a:r>
              <a:t>Stakeholder identification and requirement analysis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5C02ABF6-544F-40F7-9CE1-74AEA7F6C6B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365760" y="2190750"/>
            <a:ext cx="2095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/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1050" b="1" i="0">
                <a:solidFill>
                  <a:srgbClr val="1E293B"/>
                </a:solidFill>
                <a:latin typeface="Calibri"/>
                <a:ea typeface="Calibri"/>
                <a:cs typeface="Calibri"/>
              </a:defRPr>
            </a:pPr>
            <a:r>
              <a:t>•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B5BFFB1C-8F55-4D47-B824-329288F5EF9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632460" y="2190750"/>
            <a:ext cx="3665220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/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900" b="1" i="0">
                <a:solidFill>
                  <a:srgbClr val="1E293B"/>
                </a:solidFill>
                <a:latin typeface="Calibri"/>
                <a:ea typeface="Calibri"/>
                <a:cs typeface="Calibri"/>
              </a:defRPr>
            </a:pPr>
            <a:r>
              <a:t>Functional / non-functional requirements definition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57E8EBEF-185C-4817-A83A-6438044A7E3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365760" y="2428875"/>
            <a:ext cx="2095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/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1050" b="1" i="0">
                <a:solidFill>
                  <a:srgbClr val="1E293B"/>
                </a:solidFill>
                <a:latin typeface="Calibri"/>
                <a:ea typeface="Calibri"/>
                <a:cs typeface="Calibri"/>
              </a:defRPr>
            </a:pPr>
            <a:r>
              <a:t>•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B40F918B-8F93-47A6-915A-74EEB3C640E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632460" y="2428875"/>
            <a:ext cx="3665220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/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900" b="1" i="0">
                <a:solidFill>
                  <a:srgbClr val="1E293B"/>
                </a:solidFill>
                <a:latin typeface="Calibri"/>
                <a:ea typeface="Calibri"/>
                <a:cs typeface="Calibri"/>
              </a:defRPr>
            </a:pPr>
            <a:r>
              <a:t>Feasibility study, risk assessment, and traceability planning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C08A198A-0AD5-45E4-9776-3C4311ABA20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4800600" y="1952625"/>
            <a:ext cx="2095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/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1050" b="1" i="0">
                <a:solidFill>
                  <a:srgbClr val="1E293B"/>
                </a:solidFill>
                <a:latin typeface="Calibri"/>
                <a:ea typeface="Calibri"/>
                <a:cs typeface="Calibri"/>
              </a:defRPr>
            </a:pPr>
            <a:r>
              <a:t>•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FCFF0B2F-97E7-49AB-852A-7CDDAE6ADA3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5067300" y="1952625"/>
            <a:ext cx="3665220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/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900" b="1" i="0">
                <a:solidFill>
                  <a:srgbClr val="1E293B"/>
                </a:solidFill>
                <a:latin typeface="Calibri"/>
                <a:ea typeface="Calibri"/>
                <a:cs typeface="Calibri"/>
              </a:defRPr>
            </a:pPr>
            <a:r>
              <a:t>Authentication, destination discovery, and booking workflow design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8EA01694-23E3-4AED-BAD7-B23312122B2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4800600" y="2190750"/>
            <a:ext cx="2095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/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1050" b="1" i="0">
                <a:solidFill>
                  <a:srgbClr val="1E293B"/>
                </a:solidFill>
                <a:latin typeface="Calibri"/>
                <a:ea typeface="Calibri"/>
                <a:cs typeface="Calibri"/>
              </a:defRPr>
            </a:pPr>
            <a:r>
              <a:t>•</a:t>
            </a:r>
          </a:p>
        </p:txBody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C968EEA5-2382-4A35-B152-250B0B45992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5067300" y="2190750"/>
            <a:ext cx="3665220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/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900" b="1" i="0">
                <a:solidFill>
                  <a:srgbClr val="1E293B"/>
                </a:solidFill>
                <a:latin typeface="Calibri"/>
                <a:ea typeface="Calibri"/>
                <a:cs typeface="Calibri"/>
              </a:defRPr>
            </a:pPr>
            <a:r>
              <a:t>Hotel search, car rental, payment simulation, and map support</a:t>
            </a:r>
          </a:p>
        </p:txBody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B61D35EF-E1E8-4C63-8ABA-DC9DAFA8C1C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4800600" y="2428875"/>
            <a:ext cx="2095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/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1050" b="1" i="0">
                <a:solidFill>
                  <a:srgbClr val="1E293B"/>
                </a:solidFill>
                <a:latin typeface="Calibri"/>
                <a:ea typeface="Calibri"/>
                <a:cs typeface="Calibri"/>
              </a:defRPr>
            </a:pPr>
            <a:r>
              <a:t>•</a:t>
            </a:r>
          </a:p>
        </p:txBody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A6F7B071-2A6C-4E6C-AB20-EC59154E21C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5067300" y="2428875"/>
            <a:ext cx="3665220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/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900" b="1" i="0">
                <a:solidFill>
                  <a:srgbClr val="1E293B"/>
                </a:solidFill>
                <a:latin typeface="Calibri"/>
                <a:ea typeface="Calibri"/>
                <a:cs typeface="Calibri"/>
              </a:defRPr>
            </a:pPr>
            <a:r>
              <a:t>Profile management, booking history, and user listing modules</a:t>
            </a:r>
          </a:p>
        </p:txBody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B2BB5C11-CAB5-4949-876F-ED0B668F409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365760" y="3771900"/>
            <a:ext cx="2095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/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1050" b="1" i="0">
                <a:solidFill>
                  <a:srgbClr val="1E293B"/>
                </a:solidFill>
                <a:latin typeface="Calibri"/>
                <a:ea typeface="Calibri"/>
                <a:cs typeface="Calibri"/>
              </a:defRPr>
            </a:pPr>
            <a:r>
              <a:t>•</a:t>
            </a:r>
          </a:p>
        </p:txBody>
      </p:sp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F4F157D9-0A1A-478D-8B70-D5E7AD77FEF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632460" y="3771900"/>
            <a:ext cx="3665220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/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900" b="1" i="0">
                <a:solidFill>
                  <a:srgbClr val="1E293B"/>
                </a:solidFill>
                <a:latin typeface="Calibri"/>
                <a:ea typeface="Calibri"/>
                <a:cs typeface="Calibri"/>
              </a:defRPr>
            </a:pPr>
            <a:r>
              <a:t>Service-oriented separation of screens, models, and storage logic</a:t>
            </a:r>
          </a:p>
        </p:txBody>
      </p:sp>
      <p:sp>
        <p:nvSpPr>
          <p:cNvPr id="28" name="">
            <a:extLst xmlns:a="http://schemas.openxmlformats.org/drawingml/2006/main">
              <a:ext uri="{FF2B5EF4-FFF2-40B4-BE49-F238E27FC236}">
                <a16:creationId xmlns:a16="http://schemas.microsoft.com/office/drawing/2014/main" id="{273F8112-5D77-4F15-80CB-31D4B911011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365760" y="4010025"/>
            <a:ext cx="2095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/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1050" b="1" i="0">
                <a:solidFill>
                  <a:srgbClr val="1E293B"/>
                </a:solidFill>
                <a:latin typeface="Calibri"/>
                <a:ea typeface="Calibri"/>
                <a:cs typeface="Calibri"/>
              </a:defRPr>
            </a:pPr>
            <a:r>
              <a:t>•</a:t>
            </a:r>
          </a:p>
        </p:txBody>
      </p:sp>
      <p:sp>
        <p:nvSpPr>
          <p:cNvPr id="29" name="">
            <a:extLst xmlns:a="http://schemas.openxmlformats.org/drawingml/2006/main">
              <a:ext uri="{FF2B5EF4-FFF2-40B4-BE49-F238E27FC236}">
                <a16:creationId xmlns:a16="http://schemas.microsoft.com/office/drawing/2014/main" id="{9BDC8E27-9315-4CD6-876C-CA848CF0F80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632460" y="4010025"/>
            <a:ext cx="3665220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/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900" b="1" i="0">
                <a:solidFill>
                  <a:srgbClr val="1E293B"/>
                </a:solidFill>
                <a:latin typeface="Calibri"/>
                <a:ea typeface="Calibri"/>
                <a:cs typeface="Calibri"/>
              </a:defRPr>
            </a:pPr>
            <a:r>
              <a:t>Firebase Auth, Firestore, Storage, Shared Preferences, and in-memory fallback</a:t>
            </a:r>
          </a:p>
        </p:txBody>
      </p:sp>
      <p:sp>
        <p:nvSpPr>
          <p:cNvPr id="30" name="">
            <a:extLst xmlns:a="http://schemas.openxmlformats.org/drawingml/2006/main">
              <a:ext uri="{FF2B5EF4-FFF2-40B4-BE49-F238E27FC236}">
                <a16:creationId xmlns:a16="http://schemas.microsoft.com/office/drawing/2014/main" id="{ADF8193C-D0CA-4666-83BF-6ACE445112C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365760" y="4248150"/>
            <a:ext cx="2095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/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1050" b="1" i="0">
                <a:solidFill>
                  <a:srgbClr val="1E293B"/>
                </a:solidFill>
                <a:latin typeface="Calibri"/>
                <a:ea typeface="Calibri"/>
                <a:cs typeface="Calibri"/>
              </a:defRPr>
            </a:pPr>
            <a:r>
              <a:t>•</a:t>
            </a:r>
          </a:p>
        </p:txBody>
      </p:sp>
      <p:sp>
        <p:nvSpPr>
          <p:cNvPr id="31" name="">
            <a:extLst xmlns:a="http://schemas.openxmlformats.org/drawingml/2006/main">
              <a:ext uri="{FF2B5EF4-FFF2-40B4-BE49-F238E27FC236}">
                <a16:creationId xmlns:a16="http://schemas.microsoft.com/office/drawing/2014/main" id="{B987CB66-3402-42BB-B931-DD4F452AB74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632460" y="4248150"/>
            <a:ext cx="3665220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/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900" b="1" i="0">
                <a:solidFill>
                  <a:srgbClr val="1E293B"/>
                </a:solidFill>
                <a:latin typeface="Calibri"/>
                <a:ea typeface="Calibri"/>
                <a:cs typeface="Calibri"/>
              </a:defRPr>
            </a:pPr>
            <a:r>
              <a:t>Reusable validators, constants, theme utilities, and navigation helpers</a:t>
            </a:r>
          </a:p>
        </p:txBody>
      </p:sp>
      <p:sp>
        <p:nvSpPr>
          <p:cNvPr id="32" name="">
            <a:extLst xmlns:a="http://schemas.openxmlformats.org/drawingml/2006/main">
              <a:ext uri="{FF2B5EF4-FFF2-40B4-BE49-F238E27FC236}">
                <a16:creationId xmlns:a16="http://schemas.microsoft.com/office/drawing/2014/main" id="{40DF8F1D-FD94-4436-AC01-B31824F10D2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4800600" y="3771900"/>
            <a:ext cx="2095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/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1050" b="1" i="0">
                <a:solidFill>
                  <a:srgbClr val="1E293B"/>
                </a:solidFill>
                <a:latin typeface="Calibri"/>
                <a:ea typeface="Calibri"/>
                <a:cs typeface="Calibri"/>
              </a:defRPr>
            </a:pPr>
            <a:r>
              <a:t>•</a:t>
            </a:r>
          </a:p>
        </p:txBody>
      </p:sp>
      <p:sp>
        <p:nvSpPr>
          <p:cNvPr id="33" name="">
            <a:extLst xmlns:a="http://schemas.openxmlformats.org/drawingml/2006/main">
              <a:ext uri="{FF2B5EF4-FFF2-40B4-BE49-F238E27FC236}">
                <a16:creationId xmlns:a16="http://schemas.microsoft.com/office/drawing/2014/main" id="{C2D2A3E4-4D5E-4192-ACFB-1D6A005A432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5067300" y="3771900"/>
            <a:ext cx="3665220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/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900" b="1" i="0">
                <a:solidFill>
                  <a:srgbClr val="1E293B"/>
                </a:solidFill>
                <a:latin typeface="Calibri"/>
                <a:ea typeface="Calibri"/>
                <a:cs typeface="Calibri"/>
              </a:defRPr>
            </a:pPr>
            <a:r>
              <a:t>Manual and integration testing across major user flows</a:t>
            </a:r>
          </a:p>
        </p:txBody>
      </p:sp>
      <p:sp>
        <p:nvSpPr>
          <p:cNvPr id="34" name="">
            <a:extLst xmlns:a="http://schemas.openxmlformats.org/drawingml/2006/main">
              <a:ext uri="{FF2B5EF4-FFF2-40B4-BE49-F238E27FC236}">
                <a16:creationId xmlns:a16="http://schemas.microsoft.com/office/drawing/2014/main" id="{D69C37F0-65FB-4908-8F6E-C8F501E0214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4800600" y="4010025"/>
            <a:ext cx="2095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/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1050" b="1" i="0">
                <a:solidFill>
                  <a:srgbClr val="1E293B"/>
                </a:solidFill>
                <a:latin typeface="Calibri"/>
                <a:ea typeface="Calibri"/>
                <a:cs typeface="Calibri"/>
              </a:defRPr>
            </a:pPr>
            <a:r>
              <a:t>•</a:t>
            </a:r>
          </a:p>
        </p:txBody>
      </p:sp>
      <p:sp>
        <p:nvSpPr>
          <p:cNvPr id="35" name="">
            <a:extLst xmlns:a="http://schemas.openxmlformats.org/drawingml/2006/main">
              <a:ext uri="{FF2B5EF4-FFF2-40B4-BE49-F238E27FC236}">
                <a16:creationId xmlns:a16="http://schemas.microsoft.com/office/drawing/2014/main" id="{AB7DA9F8-1BB0-4DCA-864A-6E9A40DBC8C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5067300" y="4010025"/>
            <a:ext cx="3665220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/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900" b="1" i="0">
                <a:solidFill>
                  <a:srgbClr val="1E293B"/>
                </a:solidFill>
                <a:latin typeface="Calibri"/>
                <a:ea typeface="Calibri"/>
                <a:cs typeface="Calibri"/>
              </a:defRPr>
            </a:pPr>
            <a:r>
              <a:t>Positive / negative case validation for forms, bookings, and routing</a:t>
            </a:r>
          </a:p>
        </p:txBody>
      </p:sp>
      <p:sp>
        <p:nvSpPr>
          <p:cNvPr id="36" name="">
            <a:extLst xmlns:a="http://schemas.openxmlformats.org/drawingml/2006/main">
              <a:ext uri="{FF2B5EF4-FFF2-40B4-BE49-F238E27FC236}">
                <a16:creationId xmlns:a16="http://schemas.microsoft.com/office/drawing/2014/main" id="{99ED2AC3-6EEE-4F65-8753-A3467E6E6DF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4800600" y="4248150"/>
            <a:ext cx="2095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/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1050" b="1" i="0">
                <a:solidFill>
                  <a:srgbClr val="1E293B"/>
                </a:solidFill>
                <a:latin typeface="Calibri"/>
                <a:ea typeface="Calibri"/>
                <a:cs typeface="Calibri"/>
              </a:defRPr>
            </a:pPr>
            <a:r>
              <a:t>•</a:t>
            </a:r>
          </a:p>
        </p:txBody>
      </p:sp>
      <p:sp>
        <p:nvSpPr>
          <p:cNvPr id="37" name="">
            <a:extLst xmlns:a="http://schemas.openxmlformats.org/drawingml/2006/main">
              <a:ext uri="{FF2B5EF4-FFF2-40B4-BE49-F238E27FC236}">
                <a16:creationId xmlns:a16="http://schemas.microsoft.com/office/drawing/2014/main" id="{994475BD-3B02-4F06-93CC-A1C9BFA66F8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5067300" y="4248150"/>
            <a:ext cx="3665220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/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900" b="1" i="0">
                <a:solidFill>
                  <a:srgbClr val="1E293B"/>
                </a:solidFill>
                <a:latin typeface="Calibri"/>
                <a:ea typeface="Calibri"/>
                <a:cs typeface="Calibri"/>
              </a:defRPr>
            </a:pPr>
            <a:r>
              <a:t>Honest reporting of defects, limitations, and production gaps</a:t>
            </a:r>
          </a:p>
        </p:txBody>
      </p:sp>
    </p:spTree>
    <p:extLst>
      <p:ext uri="{BB962C8B-B14F-4D97-AF65-F5344CB8AC3E}">
        <p14:creationId xmlns:p14="http://schemas.microsoft.com/office/powerpoint/2010/main" val="1091108357"/>
      </p:ext>
    </p:extLst>
  </p:cSld>
</p:sld>
</file>

<file path=ppt/slides/slide6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pic>
        <p:nvPicPr>
          <p:cNvPr id="1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c9338a5128594f65"/>
          <a:stretch xmlns:a="http://schemas.openxmlformats.org/drawingml/2006/main"/>
        </p:blipFill>
        <p:spPr>
          <a:xfrm xmlns:a="http://schemas.openxmlformats.org/drawingml/2006/main">
            <a:off x="182880" y="114808"/>
            <a:ext cx="1280160" cy="547624"/>
          </a:xfrm>
          <a:prstGeom xmlns:a="http://schemas.openxmlformats.org/drawingml/2006/main" prst="rect">
            <a:avLst/>
          </a:prstGeom>
        </p:spPr>
      </p:pic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3DB7F197-670B-4DAB-8804-BBC3CCC2C5F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1645920" y="190500"/>
            <a:ext cx="585216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/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ctr">
              <a:defRPr sz="2400" b="1" i="0">
                <a:solidFill>
                  <a:srgbClr val="1F7A3E"/>
                </a:solidFill>
                <a:latin typeface="Calibri"/>
                <a:ea typeface="Calibri"/>
                <a:cs typeface="Calibri"/>
              </a:defRPr>
            </a:pPr>
            <a:r>
              <a:t>Methodology (Cont..)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5BD7C2A8-A7CC-4FF3-849E-9AC280D5CA1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2286000" y="4892040"/>
            <a:ext cx="4572000" cy="18288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/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ctr">
              <a:defRPr sz="675" b="0" i="0">
                <a:solidFill>
                  <a:srgbClr val="AAAAAA"/>
                </a:solidFill>
                <a:latin typeface="Calibri"/>
                <a:ea typeface="Calibri"/>
                <a:cs typeface="Calibri"/>
              </a:defRPr>
            </a:pPr>
            <a:r>
              <a:t>AUIC – CS/SE - FYP Presentation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FEACB658-F985-4DA0-898A-B1A5D51383C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8503920" y="4892040"/>
            <a:ext cx="457200" cy="18288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/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r">
              <a:defRPr sz="675" b="0" i="0">
                <a:solidFill>
                  <a:srgbClr val="AAAAAA"/>
                </a:solidFill>
                <a:latin typeface="Calibri"/>
                <a:ea typeface="Calibri"/>
                <a:cs typeface="Calibri"/>
              </a:defRPr>
            </a:pPr>
            <a:r>
              <a:t>6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6D1521DF-E09E-4E8C-B9BF-BB003AC922D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274320" y="804672"/>
            <a:ext cx="49530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/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900" b="1" i="0">
                <a:solidFill>
                  <a:srgbClr val="1E293B"/>
                </a:solidFill>
                <a:latin typeface="Calibri"/>
                <a:ea typeface="Calibri"/>
                <a:cs typeface="Calibri"/>
              </a:defRPr>
            </a:pPr>
            <a:r>
              <a:t>Development Tools &amp; Practices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4FE769C9-36E3-4C32-BAAD-11F1DF2C5A1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5577840" y="804672"/>
            <a:ext cx="338328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/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900" b="1" i="0">
                <a:solidFill>
                  <a:srgbClr val="1F7A3E"/>
                </a:solidFill>
                <a:latin typeface="Calibri"/>
                <a:ea typeface="Calibri"/>
                <a:cs typeface="Calibri"/>
              </a:defRPr>
            </a:pPr>
            <a:r>
              <a:t>Technology Stack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36739A3C-104E-420F-B7D8-31FC31FCDF3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228600" y="1188720"/>
            <a:ext cx="1143000" cy="2476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F2937"/>
          </a:solidFill>
          <a:ln xmlns:a="http://schemas.openxmlformats.org/drawingml/2006/main" w="9525">
            <a:solidFill>
              <a:srgbClr val="FFFFFF"/>
            </a:solidFill>
          </a:ln>
        </p:spPr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B453093D-8EEB-43E7-9692-D9745EC8BDB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304800" y="1245870"/>
            <a:ext cx="990600" cy="133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/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l">
              <a:defRPr sz="900" b="1" i="0">
                <a:solidFill>
                  <a:srgbClr val="FFFFFF"/>
                </a:solidFill>
                <a:latin typeface="Calibri"/>
                <a:ea typeface="Calibri"/>
                <a:cs typeface="Calibri"/>
              </a:defRPr>
            </a:pPr>
            <a:r>
              <a:t>Category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DB2091B3-8F46-4BE6-B120-1AD7E5A0C27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1371600" y="1188720"/>
            <a:ext cx="3848100" cy="2476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F2937"/>
          </a:solidFill>
          <a:ln xmlns:a="http://schemas.openxmlformats.org/drawingml/2006/main" w="9525">
            <a:solidFill>
              <a:srgbClr val="FFFFFF"/>
            </a:solidFill>
          </a:ln>
        </p:spPr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53200041-9775-486E-BCD2-A8CBF866473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1447800" y="1245870"/>
            <a:ext cx="3695700" cy="133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/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l">
              <a:defRPr sz="900" b="1" i="0">
                <a:solidFill>
                  <a:srgbClr val="FFFFFF"/>
                </a:solidFill>
                <a:latin typeface="Calibri"/>
                <a:ea typeface="Calibri"/>
                <a:cs typeface="Calibri"/>
              </a:defRPr>
            </a:pPr>
            <a:r>
              <a:t>Tool / Practice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5E04BD2D-561C-494C-84E6-6E54AF4E75A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228600" y="1436370"/>
            <a:ext cx="1143000" cy="4381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6"/>
            </a:solidFill>
          </a:ln>
        </p:spPr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A0C789A9-B5DE-4A3B-8EB5-5826494E0B9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304800" y="1493520"/>
            <a:ext cx="9906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/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l">
              <a:defRPr sz="825" b="0" i="0">
                <a:solidFill>
                  <a:srgbClr val="1E293B"/>
                </a:solidFill>
                <a:latin typeface="Calibri"/>
                <a:ea typeface="Calibri"/>
                <a:cs typeface="Calibri"/>
              </a:defRPr>
            </a:pPr>
            <a:r>
              <a:t>IDE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7F87B970-CD84-4355-B37F-A32D0DE2A79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1371600" y="1436370"/>
            <a:ext cx="3848100" cy="4381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6"/>
            </a:solidFill>
          </a:ln>
        </p:spPr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32CB97F6-C5EE-4E00-9A76-85CD7406258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1447800" y="1493520"/>
            <a:ext cx="36957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/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l">
              <a:defRPr sz="825" b="0" i="0">
                <a:solidFill>
                  <a:srgbClr val="1E293B"/>
                </a:solidFill>
                <a:latin typeface="Calibri"/>
                <a:ea typeface="Calibri"/>
                <a:cs typeface="Calibri"/>
              </a:defRPr>
            </a:pPr>
            <a:r>
              <a:t>Visual Studio Code / Android Studio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88DBEFAB-114C-4BBF-8535-FCD893B7A2A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228600" y="1874520"/>
            <a:ext cx="1143000" cy="4381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6"/>
            </a:solidFill>
          </a:ln>
        </p:spPr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D035AB43-442C-43F9-94E3-6F4F0216671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304800" y="1931670"/>
            <a:ext cx="9906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/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l">
              <a:defRPr sz="825" b="0" i="0">
                <a:solidFill>
                  <a:srgbClr val="1E293B"/>
                </a:solidFill>
                <a:latin typeface="Calibri"/>
                <a:ea typeface="Calibri"/>
                <a:cs typeface="Calibri"/>
              </a:defRPr>
            </a:pPr>
            <a:r>
              <a:t>Framework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31D5845E-BB39-4C83-81F7-CD66F6A3904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1371600" y="1874520"/>
            <a:ext cx="3848100" cy="4381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6"/>
            </a:solidFill>
          </a:ln>
        </p:spPr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2D60BA5A-A1E3-481C-9EDB-25F6B7E6834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1447800" y="1931670"/>
            <a:ext cx="36957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/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l">
              <a:defRPr sz="825" b="0" i="0">
                <a:solidFill>
                  <a:srgbClr val="1E293B"/>
                </a:solidFill>
                <a:latin typeface="Calibri"/>
                <a:ea typeface="Calibri"/>
                <a:cs typeface="Calibri"/>
              </a:defRPr>
            </a:pPr>
            <a:r>
              <a:t>Flutter with Dart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70685560-2081-4475-A7E0-A120B132B87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228600" y="2312670"/>
            <a:ext cx="1143000" cy="4381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6"/>
            </a:solidFill>
          </a:ln>
        </p:spPr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A965FE53-5D1A-4AFE-B00B-E1C44881EBA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304800" y="2369820"/>
            <a:ext cx="9906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/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l">
              <a:defRPr sz="825" b="0" i="0">
                <a:solidFill>
                  <a:srgbClr val="1E293B"/>
                </a:solidFill>
                <a:latin typeface="Calibri"/>
                <a:ea typeface="Calibri"/>
                <a:cs typeface="Calibri"/>
              </a:defRPr>
            </a:pPr>
            <a:r>
              <a:t>Cloud services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DD437700-69B4-4AF1-81FF-80735517CDA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1371600" y="2312670"/>
            <a:ext cx="3848100" cy="4381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6"/>
            </a:solidFill>
          </a:ln>
        </p:spPr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BC82D5AA-BC47-4A71-84A1-96CC1979C7F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1447800" y="2369820"/>
            <a:ext cx="36957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/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l">
              <a:defRPr sz="825" b="0" i="0">
                <a:solidFill>
                  <a:srgbClr val="1E293B"/>
                </a:solidFill>
                <a:latin typeface="Calibri"/>
                <a:ea typeface="Calibri"/>
                <a:cs typeface="Calibri"/>
              </a:defRPr>
            </a:pPr>
            <a:r>
              <a:t>Firebase Auth, Cloud Firestore, Firebase Storage</a:t>
            </a:r>
          </a:p>
        </p:txBody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8D64C6BD-DA4A-4ABC-BB49-568A4424935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228600" y="2750820"/>
            <a:ext cx="1143000" cy="4381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6"/>
            </a:solidFill>
          </a:ln>
        </p:spPr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C63449ED-8769-42D2-B25D-928C13EE5A3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304800" y="2807970"/>
            <a:ext cx="9906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/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l">
              <a:defRPr sz="825" b="0" i="0">
                <a:solidFill>
                  <a:srgbClr val="1E293B"/>
                </a:solidFill>
                <a:latin typeface="Calibri"/>
                <a:ea typeface="Calibri"/>
                <a:cs typeface="Calibri"/>
              </a:defRPr>
            </a:pPr>
            <a:r>
              <a:t>Local support</a:t>
            </a:r>
          </a:p>
        </p:txBody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AC794182-8E7D-4C4B-9E78-8F9AE7E2E8B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1371600" y="2750820"/>
            <a:ext cx="3848100" cy="4381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6"/>
            </a:solidFill>
          </a:ln>
        </p:spPr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8A0566D0-2DFB-4DC4-9CC4-941D2D8ED02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1447800" y="2807970"/>
            <a:ext cx="36957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/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l">
              <a:defRPr sz="825" b="0" i="0">
                <a:solidFill>
                  <a:srgbClr val="1E293B"/>
                </a:solidFill>
                <a:latin typeface="Calibri"/>
                <a:ea typeface="Calibri"/>
                <a:cs typeface="Calibri"/>
              </a:defRPr>
            </a:pPr>
            <a:r>
              <a:t>Shared Preferences + in-memory booking store</a:t>
            </a:r>
          </a:p>
        </p:txBody>
      </p:sp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D607717F-AEB4-4665-A020-1454D10F80A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228600" y="3188970"/>
            <a:ext cx="1143000" cy="4381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6"/>
            </a:solidFill>
          </a:ln>
        </p:spPr>
      </p:sp>
      <p:sp>
        <p:nvSpPr>
          <p:cNvPr id="28" name="">
            <a:extLst xmlns:a="http://schemas.openxmlformats.org/drawingml/2006/main">
              <a:ext uri="{FF2B5EF4-FFF2-40B4-BE49-F238E27FC236}">
                <a16:creationId xmlns:a16="http://schemas.microsoft.com/office/drawing/2014/main" id="{869FEAD5-AC39-4891-BA87-2B59191882A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304800" y="3246120"/>
            <a:ext cx="9906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/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l">
              <a:defRPr sz="825" b="0" i="0">
                <a:solidFill>
                  <a:srgbClr val="1E293B"/>
                </a:solidFill>
                <a:latin typeface="Calibri"/>
                <a:ea typeface="Calibri"/>
                <a:cs typeface="Calibri"/>
              </a:defRPr>
            </a:pPr>
            <a:r>
              <a:t>Maps &amp; location</a:t>
            </a:r>
          </a:p>
        </p:txBody>
      </p:sp>
      <p:sp>
        <p:nvSpPr>
          <p:cNvPr id="29" name="">
            <a:extLst xmlns:a="http://schemas.openxmlformats.org/drawingml/2006/main">
              <a:ext uri="{FF2B5EF4-FFF2-40B4-BE49-F238E27FC236}">
                <a16:creationId xmlns:a16="http://schemas.microsoft.com/office/drawing/2014/main" id="{352DC1ED-25F8-4FCE-BB23-52BB9DF44AC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1371600" y="3188970"/>
            <a:ext cx="3848100" cy="4381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6"/>
            </a:solidFill>
          </a:ln>
        </p:spPr>
      </p:sp>
      <p:sp>
        <p:nvSpPr>
          <p:cNvPr id="30" name="">
            <a:extLst xmlns:a="http://schemas.openxmlformats.org/drawingml/2006/main">
              <a:ext uri="{FF2B5EF4-FFF2-40B4-BE49-F238E27FC236}">
                <a16:creationId xmlns:a16="http://schemas.microsoft.com/office/drawing/2014/main" id="{0440584B-D555-4DE6-B20A-213A5816CFD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1447800" y="3246120"/>
            <a:ext cx="36957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/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l">
              <a:defRPr sz="825" b="0" i="0">
                <a:solidFill>
                  <a:srgbClr val="1E293B"/>
                </a:solidFill>
                <a:latin typeface="Calibri"/>
                <a:ea typeface="Calibri"/>
                <a:cs typeface="Calibri"/>
              </a:defRPr>
            </a:pPr>
            <a:r>
              <a:t>Google Maps Flutter and Geolocator</a:t>
            </a:r>
          </a:p>
        </p:txBody>
      </p:sp>
      <p:sp>
        <p:nvSpPr>
          <p:cNvPr id="31" name="">
            <a:extLst xmlns:a="http://schemas.openxmlformats.org/drawingml/2006/main">
              <a:ext uri="{FF2B5EF4-FFF2-40B4-BE49-F238E27FC236}">
                <a16:creationId xmlns:a16="http://schemas.microsoft.com/office/drawing/2014/main" id="{D665C2AE-A534-4EF5-8423-D6F2BABDB66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228600" y="3627120"/>
            <a:ext cx="1143000" cy="4381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6"/>
            </a:solidFill>
          </a:ln>
        </p:spPr>
      </p:sp>
      <p:sp>
        <p:nvSpPr>
          <p:cNvPr id="32" name="">
            <a:extLst xmlns:a="http://schemas.openxmlformats.org/drawingml/2006/main">
              <a:ext uri="{FF2B5EF4-FFF2-40B4-BE49-F238E27FC236}">
                <a16:creationId xmlns:a16="http://schemas.microsoft.com/office/drawing/2014/main" id="{49F179F2-16B8-4515-95A2-BB78E3305B3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304800" y="3684270"/>
            <a:ext cx="9906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/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l">
              <a:defRPr sz="825" b="0" i="0">
                <a:solidFill>
                  <a:srgbClr val="1E293B"/>
                </a:solidFill>
                <a:latin typeface="Calibri"/>
                <a:ea typeface="Calibri"/>
                <a:cs typeface="Calibri"/>
              </a:defRPr>
            </a:pPr>
            <a:r>
              <a:t>Testing</a:t>
            </a:r>
          </a:p>
        </p:txBody>
      </p:sp>
      <p:sp>
        <p:nvSpPr>
          <p:cNvPr id="33" name="">
            <a:extLst xmlns:a="http://schemas.openxmlformats.org/drawingml/2006/main">
              <a:ext uri="{FF2B5EF4-FFF2-40B4-BE49-F238E27FC236}">
                <a16:creationId xmlns:a16="http://schemas.microsoft.com/office/drawing/2014/main" id="{2A070E09-7E8F-41C2-92AD-52E9AE9EFAD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1371600" y="3627120"/>
            <a:ext cx="3848100" cy="4381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6"/>
            </a:solidFill>
          </a:ln>
        </p:spPr>
      </p:sp>
      <p:sp>
        <p:nvSpPr>
          <p:cNvPr id="34" name="">
            <a:extLst xmlns:a="http://schemas.openxmlformats.org/drawingml/2006/main">
              <a:ext uri="{FF2B5EF4-FFF2-40B4-BE49-F238E27FC236}">
                <a16:creationId xmlns:a16="http://schemas.microsoft.com/office/drawing/2014/main" id="{429C71E9-B9AA-4EDD-B7ED-01351F82DFE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1447800" y="3684270"/>
            <a:ext cx="36957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/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l">
              <a:defRPr sz="825" b="0" i="0">
                <a:solidFill>
                  <a:srgbClr val="1E293B"/>
                </a:solidFill>
                <a:latin typeface="Calibri"/>
                <a:ea typeface="Calibri"/>
                <a:cs typeface="Calibri"/>
              </a:defRPr>
            </a:pPr>
            <a:r>
              <a:t>Manual and integration flow testing</a:t>
            </a:r>
          </a:p>
        </p:txBody>
      </p:sp>
      <p:sp>
        <p:nvSpPr>
          <p:cNvPr id="35" name="">
            <a:extLst xmlns:a="http://schemas.openxmlformats.org/drawingml/2006/main">
              <a:ext uri="{FF2B5EF4-FFF2-40B4-BE49-F238E27FC236}">
                <a16:creationId xmlns:a16="http://schemas.microsoft.com/office/drawing/2014/main" id="{826C9D1E-0114-449B-B7B4-1B8D9FF9B11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5532120" y="1261872"/>
            <a:ext cx="1554480" cy="804672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8FAFC"/>
          </a:solidFill>
          <a:ln xmlns:a="http://schemas.openxmlformats.org/drawingml/2006/main" w="9525">
            <a:solidFill>
              <a:srgbClr val="D8DEE6"/>
            </a:solidFill>
          </a:ln>
        </p:spPr>
      </p:sp>
      <p:sp>
        <p:nvSpPr>
          <p:cNvPr id="36" name="">
            <a:extLst xmlns:a="http://schemas.openxmlformats.org/drawingml/2006/main">
              <a:ext uri="{FF2B5EF4-FFF2-40B4-BE49-F238E27FC236}">
                <a16:creationId xmlns:a16="http://schemas.microsoft.com/office/drawing/2014/main" id="{92CFA013-4A57-4F36-9E5E-096F11D17D1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5532120" y="1499997"/>
            <a:ext cx="155448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/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ctr">
              <a:defRPr sz="1050" b="1" i="0">
                <a:solidFill>
                  <a:srgbClr val="1F7A3E"/>
                </a:solidFill>
                <a:latin typeface="Calibri"/>
                <a:ea typeface="Calibri"/>
                <a:cs typeface="Calibri"/>
              </a:defRPr>
            </a:pPr>
            <a:r>
              <a:t>Flutter</a:t>
            </a:r>
          </a:p>
        </p:txBody>
      </p:sp>
      <p:sp>
        <p:nvSpPr>
          <p:cNvPr id="37" name="">
            <a:extLst xmlns:a="http://schemas.openxmlformats.org/drawingml/2006/main">
              <a:ext uri="{FF2B5EF4-FFF2-40B4-BE49-F238E27FC236}">
                <a16:creationId xmlns:a16="http://schemas.microsoft.com/office/drawing/2014/main" id="{DD915160-16E6-4DD3-9951-D074D49CACC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7269480" y="1261872"/>
            <a:ext cx="1554480" cy="804672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8FAFC"/>
          </a:solidFill>
          <a:ln xmlns:a="http://schemas.openxmlformats.org/drawingml/2006/main" w="9525">
            <a:solidFill>
              <a:srgbClr val="D8DEE6"/>
            </a:solidFill>
          </a:ln>
        </p:spPr>
      </p:sp>
      <p:sp>
        <p:nvSpPr>
          <p:cNvPr id="38" name="">
            <a:extLst xmlns:a="http://schemas.openxmlformats.org/drawingml/2006/main">
              <a:ext uri="{FF2B5EF4-FFF2-40B4-BE49-F238E27FC236}">
                <a16:creationId xmlns:a16="http://schemas.microsoft.com/office/drawing/2014/main" id="{8F889420-B91A-40C2-B148-E8FE8E61698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7269480" y="1499997"/>
            <a:ext cx="155448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/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ctr">
              <a:defRPr sz="1050" b="1" i="0">
                <a:solidFill>
                  <a:srgbClr val="1F7A3E"/>
                </a:solidFill>
                <a:latin typeface="Calibri"/>
                <a:ea typeface="Calibri"/>
                <a:cs typeface="Calibri"/>
              </a:defRPr>
            </a:pPr>
            <a:r>
              <a:t>Dart</a:t>
            </a:r>
          </a:p>
        </p:txBody>
      </p:sp>
      <p:sp>
        <p:nvSpPr>
          <p:cNvPr id="39" name="">
            <a:extLst xmlns:a="http://schemas.openxmlformats.org/drawingml/2006/main">
              <a:ext uri="{FF2B5EF4-FFF2-40B4-BE49-F238E27FC236}">
                <a16:creationId xmlns:a16="http://schemas.microsoft.com/office/drawing/2014/main" id="{57714150-1F50-4551-BC48-161F2E64EA2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5532120" y="2267712"/>
            <a:ext cx="1554480" cy="804672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8FAFC"/>
          </a:solidFill>
          <a:ln xmlns:a="http://schemas.openxmlformats.org/drawingml/2006/main" w="9525">
            <a:solidFill>
              <a:srgbClr val="D8DEE6"/>
            </a:solidFill>
          </a:ln>
        </p:spPr>
      </p:sp>
      <p:sp>
        <p:nvSpPr>
          <p:cNvPr id="40" name="">
            <a:extLst xmlns:a="http://schemas.openxmlformats.org/drawingml/2006/main">
              <a:ext uri="{FF2B5EF4-FFF2-40B4-BE49-F238E27FC236}">
                <a16:creationId xmlns:a16="http://schemas.microsoft.com/office/drawing/2014/main" id="{F3D12FF9-12B3-4F07-BE8C-36D6D04A017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5532120" y="2505837"/>
            <a:ext cx="155448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/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ctr">
              <a:defRPr sz="1050" b="1" i="0">
                <a:solidFill>
                  <a:srgbClr val="1F7A3E"/>
                </a:solidFill>
                <a:latin typeface="Calibri"/>
                <a:ea typeface="Calibri"/>
                <a:cs typeface="Calibri"/>
              </a:defRPr>
            </a:pPr>
            <a:r>
              <a:t>Firebase</a:t>
            </a:r>
          </a:p>
        </p:txBody>
      </p:sp>
      <p:sp>
        <p:nvSpPr>
          <p:cNvPr id="41" name="">
            <a:extLst xmlns:a="http://schemas.openxmlformats.org/drawingml/2006/main">
              <a:ext uri="{FF2B5EF4-FFF2-40B4-BE49-F238E27FC236}">
                <a16:creationId xmlns:a16="http://schemas.microsoft.com/office/drawing/2014/main" id="{879EB143-5E07-4FF9-9E08-3D9DEDDD82C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7269480" y="2267712"/>
            <a:ext cx="1554480" cy="804672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8FAFC"/>
          </a:solidFill>
          <a:ln xmlns:a="http://schemas.openxmlformats.org/drawingml/2006/main" w="9525">
            <a:solidFill>
              <a:srgbClr val="D8DEE6"/>
            </a:solidFill>
          </a:ln>
        </p:spPr>
      </p:sp>
      <p:sp>
        <p:nvSpPr>
          <p:cNvPr id="42" name="">
            <a:extLst xmlns:a="http://schemas.openxmlformats.org/drawingml/2006/main">
              <a:ext uri="{FF2B5EF4-FFF2-40B4-BE49-F238E27FC236}">
                <a16:creationId xmlns:a16="http://schemas.microsoft.com/office/drawing/2014/main" id="{3FEB464C-C6A0-4586-90E5-F8399E84FF8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7269480" y="2505837"/>
            <a:ext cx="155448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/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ctr">
              <a:defRPr sz="1050" b="1" i="0">
                <a:solidFill>
                  <a:srgbClr val="1F7A3E"/>
                </a:solidFill>
                <a:latin typeface="Calibri"/>
                <a:ea typeface="Calibri"/>
                <a:cs typeface="Calibri"/>
              </a:defRPr>
            </a:pPr>
            <a:r>
              <a:t>Firestore</a:t>
            </a:r>
          </a:p>
        </p:txBody>
      </p:sp>
      <p:sp>
        <p:nvSpPr>
          <p:cNvPr id="43" name="">
            <a:extLst xmlns:a="http://schemas.openxmlformats.org/drawingml/2006/main">
              <a:ext uri="{FF2B5EF4-FFF2-40B4-BE49-F238E27FC236}">
                <a16:creationId xmlns:a16="http://schemas.microsoft.com/office/drawing/2014/main" id="{8E0C3D04-B7FA-4394-9B6B-54D72C4B7C4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5532120" y="3273552"/>
            <a:ext cx="1554480" cy="804672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8FAFC"/>
          </a:solidFill>
          <a:ln xmlns:a="http://schemas.openxmlformats.org/drawingml/2006/main" w="9525">
            <a:solidFill>
              <a:srgbClr val="D8DEE6"/>
            </a:solidFill>
          </a:ln>
        </p:spPr>
      </p:sp>
      <p:sp>
        <p:nvSpPr>
          <p:cNvPr id="44" name="">
            <a:extLst xmlns:a="http://schemas.openxmlformats.org/drawingml/2006/main">
              <a:ext uri="{FF2B5EF4-FFF2-40B4-BE49-F238E27FC236}">
                <a16:creationId xmlns:a16="http://schemas.microsoft.com/office/drawing/2014/main" id="{5CC01025-06A6-48EF-8F79-92841E0B457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5532120" y="3511677"/>
            <a:ext cx="155448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/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ctr">
              <a:defRPr sz="1050" b="1" i="0">
                <a:solidFill>
                  <a:srgbClr val="1F7A3E"/>
                </a:solidFill>
                <a:latin typeface="Calibri"/>
                <a:ea typeface="Calibri"/>
                <a:cs typeface="Calibri"/>
              </a:defRPr>
            </a:pPr>
            <a:r>
              <a:t>Maps API</a:t>
            </a:r>
          </a:p>
        </p:txBody>
      </p:sp>
      <p:sp>
        <p:nvSpPr>
          <p:cNvPr id="45" name="">
            <a:extLst xmlns:a="http://schemas.openxmlformats.org/drawingml/2006/main">
              <a:ext uri="{FF2B5EF4-FFF2-40B4-BE49-F238E27FC236}">
                <a16:creationId xmlns:a16="http://schemas.microsoft.com/office/drawing/2014/main" id="{D14486AB-FE86-4AB1-BAB2-09F6F1FA34F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7269480" y="3273552"/>
            <a:ext cx="1554480" cy="804672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8FAFC"/>
          </a:solidFill>
          <a:ln xmlns:a="http://schemas.openxmlformats.org/drawingml/2006/main" w="9525">
            <a:solidFill>
              <a:srgbClr val="D8DEE6"/>
            </a:solidFill>
          </a:ln>
        </p:spPr>
      </p:sp>
      <p:sp>
        <p:nvSpPr>
          <p:cNvPr id="46" name="">
            <a:extLst xmlns:a="http://schemas.openxmlformats.org/drawingml/2006/main">
              <a:ext uri="{FF2B5EF4-FFF2-40B4-BE49-F238E27FC236}">
                <a16:creationId xmlns:a16="http://schemas.microsoft.com/office/drawing/2014/main" id="{B543D8BA-0990-410D-BFCA-D1914E97411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7269480" y="3511677"/>
            <a:ext cx="155448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/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ctr">
              <a:defRPr sz="1050" b="1" i="0">
                <a:solidFill>
                  <a:srgbClr val="1F7A3E"/>
                </a:solidFill>
                <a:latin typeface="Calibri"/>
                <a:ea typeface="Calibri"/>
                <a:cs typeface="Calibri"/>
              </a:defRPr>
            </a:pPr>
            <a:r>
              <a:t>Shared Prefs</a:t>
            </a:r>
          </a:p>
        </p:txBody>
      </p:sp>
    </p:spTree>
    <p:extLst>
      <p:ext uri="{BB962C8B-B14F-4D97-AF65-F5344CB8AC3E}">
        <p14:creationId xmlns:p14="http://schemas.microsoft.com/office/powerpoint/2010/main" val="1100690845"/>
      </p:ext>
    </p:extLst>
  </p:cSld>
</p:sld>
</file>

<file path=ppt/slides/slide7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pic>
        <p:nvPicPr>
          <p:cNvPr id="1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7a83f72b483345fb"/>
          <a:stretch xmlns:a="http://schemas.openxmlformats.org/drawingml/2006/main"/>
        </p:blipFill>
        <p:spPr>
          <a:xfrm xmlns:a="http://schemas.openxmlformats.org/drawingml/2006/main">
            <a:off x="182880" y="114808"/>
            <a:ext cx="1280160" cy="547624"/>
          </a:xfrm>
          <a:prstGeom xmlns:a="http://schemas.openxmlformats.org/drawingml/2006/main" prst="rect">
            <a:avLst/>
          </a:prstGeom>
        </p:spPr>
      </p:pic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53E3986C-5BC4-4926-87EF-DA8BEDEA1DD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1645920" y="190500"/>
            <a:ext cx="585216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/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ctr">
              <a:defRPr sz="2400" b="1" i="0">
                <a:solidFill>
                  <a:srgbClr val="1F7A3E"/>
                </a:solidFill>
                <a:latin typeface="Calibri"/>
                <a:ea typeface="Calibri"/>
                <a:cs typeface="Calibri"/>
              </a:defRPr>
            </a:pPr>
            <a:r>
              <a:t>System Design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99D20421-6358-4CAA-889B-038D18F994C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2286000" y="4892040"/>
            <a:ext cx="4572000" cy="18288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/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ctr">
              <a:defRPr sz="675" b="0" i="0">
                <a:solidFill>
                  <a:srgbClr val="AAAAAA"/>
                </a:solidFill>
                <a:latin typeface="Calibri"/>
                <a:ea typeface="Calibri"/>
                <a:cs typeface="Calibri"/>
              </a:defRPr>
            </a:pPr>
            <a:r>
              <a:t>AUIC – CS/SE - FYP Presentation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A5B540B5-1D82-4389-B736-AF652AEC99E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8503920" y="4892040"/>
            <a:ext cx="457200" cy="18288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/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r">
              <a:defRPr sz="675" b="0" i="0">
                <a:solidFill>
                  <a:srgbClr val="AAAAAA"/>
                </a:solidFill>
                <a:latin typeface="Calibri"/>
                <a:ea typeface="Calibri"/>
                <a:cs typeface="Calibri"/>
              </a:defRPr>
            </a:pPr>
            <a:r>
              <a:t>7</a:t>
            </a:r>
          </a:p>
        </p:txBody>
      </p:sp>
      <p:pic>
        <p:nvPicPr>
          <p:cNvPr id="5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6e9cd8f40e004354"/>
          <a:stretch xmlns:a="http://schemas.openxmlformats.org/drawingml/2006/main"/>
        </p:blipFill>
        <p:spPr>
          <a:xfrm xmlns:a="http://schemas.openxmlformats.org/drawingml/2006/main">
            <a:off x="1891665" y="1181395"/>
            <a:ext cx="5360670" cy="2761660"/>
          </a:xfrm>
          <a:prstGeom xmlns:a="http://schemas.openxmlformats.org/drawingml/2006/main" prst="rect">
            <a:avLst/>
          </a:prstGeom>
        </p:spPr>
      </p:pic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13C64CAE-F8E3-43EF-86E8-C3F8F461B8B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1371600" y="4434840"/>
            <a:ext cx="64008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/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750" b="0" i="1">
                <a:solidFill>
                  <a:srgbClr val="AAAAAA"/>
                </a:solidFill>
                <a:latin typeface="Calibri"/>
                <a:ea typeface="Calibri"/>
                <a:cs typeface="Calibri"/>
              </a:defRPr>
            </a:pPr>
            <a:r>
              <a:t>Proposed System Architecture Diagram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50EB3B85-2397-4E43-B1F9-EC6DCC8DAFF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2286000" y="4892040"/>
            <a:ext cx="4572000" cy="18288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/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ctr">
              <a:defRPr sz="675" b="0" i="0">
                <a:solidFill>
                  <a:srgbClr val="AAAAAA"/>
                </a:solidFill>
                <a:latin typeface="Calibri"/>
                <a:ea typeface="Calibri"/>
                <a:cs typeface="Calibri"/>
              </a:defRPr>
            </a:pPr>
            <a:r>
              <a:t>AUIC – CS/SE - FYP Presentation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67C84A01-8095-4B8F-8399-21E5E4B266A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8503920" y="4892040"/>
            <a:ext cx="457200" cy="18288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/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r">
              <a:defRPr sz="675" b="0" i="0">
                <a:solidFill>
                  <a:srgbClr val="AAAAAA"/>
                </a:solidFill>
                <a:latin typeface="Calibri"/>
                <a:ea typeface="Calibri"/>
                <a:cs typeface="Calibri"/>
              </a:defRPr>
            </a:pPr>
            <a:r>
              <a:t>7</a:t>
            </a:r>
          </a:p>
        </p:txBody>
      </p:sp>
    </p:spTree>
    <p:extLst>
      <p:ext uri="{BB962C8B-B14F-4D97-AF65-F5344CB8AC3E}">
        <p14:creationId xmlns:p14="http://schemas.microsoft.com/office/powerpoint/2010/main" val="443293493"/>
      </p:ext>
    </p:extLst>
  </p:cSld>
</p:sld>
</file>

<file path=ppt/slides/slide8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pic>
        <p:nvPicPr>
          <p:cNvPr id="1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5fd3017dd4334631"/>
          <a:stretch xmlns:a="http://schemas.openxmlformats.org/drawingml/2006/main"/>
        </p:blipFill>
        <p:spPr>
          <a:xfrm xmlns:a="http://schemas.openxmlformats.org/drawingml/2006/main">
            <a:off x="182880" y="114808"/>
            <a:ext cx="1280160" cy="547624"/>
          </a:xfrm>
          <a:prstGeom xmlns:a="http://schemas.openxmlformats.org/drawingml/2006/main" prst="rect">
            <a:avLst/>
          </a:prstGeom>
        </p:spPr>
      </p:pic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1475E940-6198-41B0-8DEA-F69282653F8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1645920" y="190500"/>
            <a:ext cx="585216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/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ctr">
              <a:defRPr sz="2400" b="1" i="0">
                <a:solidFill>
                  <a:srgbClr val="1F7A3E"/>
                </a:solidFill>
                <a:latin typeface="Calibri"/>
                <a:ea typeface="Calibri"/>
                <a:cs typeface="Calibri"/>
              </a:defRPr>
            </a:pPr>
            <a:r>
              <a:t>System Design (Cont..)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A3C91A92-780C-4E73-B13D-C073DF74FC3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2286000" y="4892040"/>
            <a:ext cx="4572000" cy="18288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/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ctr">
              <a:defRPr sz="675" b="0" i="0">
                <a:solidFill>
                  <a:srgbClr val="AAAAAA"/>
                </a:solidFill>
                <a:latin typeface="Calibri"/>
                <a:ea typeface="Calibri"/>
                <a:cs typeface="Calibri"/>
              </a:defRPr>
            </a:pPr>
            <a:r>
              <a:t>AUIC – CS/SE - FYP Presentation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8B62E198-7D9D-4FC7-B3BB-87F8E6D6D49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8503920" y="4892040"/>
            <a:ext cx="457200" cy="18288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/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r">
              <a:defRPr sz="675" b="0" i="0">
                <a:solidFill>
                  <a:srgbClr val="AAAAAA"/>
                </a:solidFill>
                <a:latin typeface="Calibri"/>
                <a:ea typeface="Calibri"/>
                <a:cs typeface="Calibri"/>
              </a:defRPr>
            </a:pPr>
            <a:r>
              <a:t>8</a:t>
            </a:r>
          </a:p>
        </p:txBody>
      </p:sp>
      <p:pic>
        <p:nvPicPr>
          <p:cNvPr id="5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30aac4df37be4563"/>
          <a:stretch xmlns:a="http://schemas.openxmlformats.org/drawingml/2006/main"/>
        </p:blipFill>
        <p:spPr>
          <a:xfrm xmlns:a="http://schemas.openxmlformats.org/drawingml/2006/main">
            <a:off x="2476500" y="1954938"/>
            <a:ext cx="4000500" cy="1214573"/>
          </a:xfrm>
          <a:prstGeom xmlns:a="http://schemas.openxmlformats.org/drawingml/2006/main" prst="rect">
            <a:avLst/>
          </a:prstGeom>
        </p:spPr>
      </p:pic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C55049AA-1A05-43B8-946A-5BE347C19B3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1371600" y="4434840"/>
            <a:ext cx="64008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/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750" b="0" i="1">
                <a:solidFill>
                  <a:srgbClr val="AAAAAA"/>
                </a:solidFill>
                <a:latin typeface="Calibri"/>
                <a:ea typeface="Calibri"/>
                <a:cs typeface="Calibri"/>
              </a:defRPr>
            </a:pPr>
            <a:r>
              <a:t>Use Case Diagram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23999ABB-BA48-45F7-B700-54894849585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2286000" y="4892040"/>
            <a:ext cx="4572000" cy="18288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/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ctr">
              <a:defRPr sz="675" b="0" i="0">
                <a:solidFill>
                  <a:srgbClr val="AAAAAA"/>
                </a:solidFill>
                <a:latin typeface="Calibri"/>
                <a:ea typeface="Calibri"/>
                <a:cs typeface="Calibri"/>
              </a:defRPr>
            </a:pPr>
            <a:r>
              <a:t>AUIC – CS/SE - FYP Presentation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A6305984-8A19-4A1C-8A99-2AF45207160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8503920" y="4892040"/>
            <a:ext cx="457200" cy="18288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/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r">
              <a:defRPr sz="675" b="0" i="0">
                <a:solidFill>
                  <a:srgbClr val="AAAAAA"/>
                </a:solidFill>
                <a:latin typeface="Calibri"/>
                <a:ea typeface="Calibri"/>
                <a:cs typeface="Calibri"/>
              </a:defRPr>
            </a:pPr>
            <a:r>
              <a:t>8</a:t>
            </a:r>
          </a:p>
        </p:txBody>
      </p:sp>
    </p:spTree>
    <p:extLst>
      <p:ext uri="{BB962C8B-B14F-4D97-AF65-F5344CB8AC3E}">
        <p14:creationId xmlns:p14="http://schemas.microsoft.com/office/powerpoint/2010/main" val="1170743099"/>
      </p:ext>
    </p:extLst>
  </p:cSld>
</p:sld>
</file>

<file path=ppt/slides/slide9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pic>
        <p:nvPicPr>
          <p:cNvPr id="1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e27ba91725c44383"/>
          <a:stretch xmlns:a="http://schemas.openxmlformats.org/drawingml/2006/main"/>
        </p:blipFill>
        <p:spPr>
          <a:xfrm xmlns:a="http://schemas.openxmlformats.org/drawingml/2006/main">
            <a:off x="182880" y="114808"/>
            <a:ext cx="1280160" cy="547624"/>
          </a:xfrm>
          <a:prstGeom xmlns:a="http://schemas.openxmlformats.org/drawingml/2006/main" prst="rect">
            <a:avLst/>
          </a:prstGeom>
        </p:spPr>
      </p:pic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CB350F5B-C177-4BE0-97CF-A0F2A9364E9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1645920" y="190500"/>
            <a:ext cx="585216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/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ctr">
              <a:defRPr sz="2400" b="1" i="0">
                <a:solidFill>
                  <a:srgbClr val="1F7A3E"/>
                </a:solidFill>
                <a:latin typeface="Calibri"/>
                <a:ea typeface="Calibri"/>
                <a:cs typeface="Calibri"/>
              </a:defRPr>
            </a:pPr>
            <a:r>
              <a:t>App Screens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88EA7733-DB6E-4C37-A3A0-29A23121E54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2286000" y="4892040"/>
            <a:ext cx="4572000" cy="18288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/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ctr">
              <a:defRPr sz="675" b="0" i="0">
                <a:solidFill>
                  <a:srgbClr val="AAAAAA"/>
                </a:solidFill>
                <a:latin typeface="Calibri"/>
                <a:ea typeface="Calibri"/>
                <a:cs typeface="Calibri"/>
              </a:defRPr>
            </a:pPr>
            <a:r>
              <a:t>AUIC – CS/SE - FYP Presentation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63180BB8-7296-4C6C-BA34-B9430AC869B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8503920" y="4892040"/>
            <a:ext cx="457200" cy="18288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/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r">
              <a:defRPr sz="675" b="0" i="0">
                <a:solidFill>
                  <a:srgbClr val="AAAAAA"/>
                </a:solidFill>
                <a:latin typeface="Calibri"/>
                <a:ea typeface="Calibri"/>
                <a:cs typeface="Calibri"/>
              </a:defRPr>
            </a:pPr>
            <a:r>
              <a:t>9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6C461AFA-5938-4542-8424-20F4F4DE7C4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274320" y="640080"/>
            <a:ext cx="859536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/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825" b="1" i="0">
                <a:solidFill>
                  <a:srgbClr val="1F7A3E"/>
                </a:solidFill>
                <a:latin typeface="Calibri"/>
                <a:ea typeface="Calibri"/>
                <a:cs typeface="Calibri"/>
              </a:defRPr>
            </a:pPr>
            <a:r>
              <a:t>Mobile App — Authentication &amp; Discovery Interface</a:t>
            </a:r>
          </a:p>
        </p:txBody>
      </p:sp>
      <p:pic>
        <p:nvPicPr>
          <p:cNvPr id="6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19e270586f684dc9"/>
          <a:stretch xmlns:a="http://schemas.openxmlformats.org/drawingml/2006/main"/>
        </p:blipFill>
        <p:spPr>
          <a:xfrm xmlns:a="http://schemas.openxmlformats.org/drawingml/2006/main">
            <a:off x="1047750" y="1090928"/>
            <a:ext cx="1524000" cy="3161669"/>
          </a:xfrm>
          <a:prstGeom xmlns:a="http://schemas.openxmlformats.org/drawingml/2006/main" prst="rect">
            <a:avLst/>
          </a:prstGeom>
        </p:spPr>
      </p:pic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43541580-D904-401D-B352-13F6103E57F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914400" y="4429125"/>
            <a:ext cx="17907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/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975" b="1" i="0">
                <a:solidFill>
                  <a:srgbClr val="1E293B"/>
                </a:solidFill>
                <a:latin typeface="Calibri"/>
                <a:ea typeface="Calibri"/>
                <a:cs typeface="Calibri"/>
              </a:defRPr>
            </a:pPr>
            <a:r>
              <a:t>Login Screen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D9B8F263-285C-4B23-9446-BA1176C66FC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914400" y="4638675"/>
            <a:ext cx="17907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/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750" b="0" i="1">
                <a:solidFill>
                  <a:srgbClr val="64748B"/>
                </a:solidFill>
                <a:latin typeface="Calibri"/>
                <a:ea typeface="Calibri"/>
                <a:cs typeface="Calibri"/>
              </a:defRPr>
            </a:pPr>
            <a:r>
              <a:t>User authentication entry</a:t>
            </a:r>
          </a:p>
        </p:txBody>
      </p:sp>
      <p:pic>
        <p:nvPicPr>
          <p:cNvPr id="9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525bbe8a9179406a"/>
          <a:stretch xmlns:a="http://schemas.openxmlformats.org/drawingml/2006/main"/>
        </p:blipFill>
        <p:spPr>
          <a:xfrm xmlns:a="http://schemas.openxmlformats.org/drawingml/2006/main">
            <a:off x="3714750" y="1199356"/>
            <a:ext cx="1428750" cy="2944812"/>
          </a:xfrm>
          <a:prstGeom xmlns:a="http://schemas.openxmlformats.org/drawingml/2006/main" prst="rect">
            <a:avLst/>
          </a:prstGeom>
        </p:spPr>
      </p:pic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8E2E91BD-8E24-4FD5-80B0-D18FC5A38C6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3581400" y="4429125"/>
            <a:ext cx="169545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/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975" b="1" i="0">
                <a:solidFill>
                  <a:srgbClr val="1E293B"/>
                </a:solidFill>
                <a:latin typeface="Calibri"/>
                <a:ea typeface="Calibri"/>
                <a:cs typeface="Calibri"/>
              </a:defRPr>
            </a:pPr>
            <a:r>
              <a:t>Home / Discovery Screen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F968EFC0-EC75-4090-B00E-1BA040426AE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3581400" y="4638675"/>
            <a:ext cx="169545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/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750" b="0" i="1">
                <a:solidFill>
                  <a:srgbClr val="64748B"/>
                </a:solidFill>
                <a:latin typeface="Calibri"/>
                <a:ea typeface="Calibri"/>
                <a:cs typeface="Calibri"/>
              </a:defRPr>
            </a:pPr>
            <a:r>
              <a:t>Browse destinations and services</a:t>
            </a:r>
          </a:p>
        </p:txBody>
      </p:sp>
      <p:pic>
        <p:nvPicPr>
          <p:cNvPr id="12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052859f7d0d84f92"/>
          <a:stretch xmlns:a="http://schemas.openxmlformats.org/drawingml/2006/main"/>
        </p:blipFill>
        <p:spPr>
          <a:xfrm xmlns:a="http://schemas.openxmlformats.org/drawingml/2006/main">
            <a:off x="5905500" y="1423777"/>
            <a:ext cx="1619250" cy="2495971"/>
          </a:xfrm>
          <a:prstGeom xmlns:a="http://schemas.openxmlformats.org/drawingml/2006/main" prst="rect">
            <a:avLst/>
          </a:prstGeom>
        </p:spPr>
      </p:pic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428E9382-89FA-4185-AFF7-5D7D3F728FA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5772150" y="4429125"/>
            <a:ext cx="188595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/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975" b="1" i="0">
                <a:solidFill>
                  <a:srgbClr val="1E293B"/>
                </a:solidFill>
                <a:latin typeface="Calibri"/>
                <a:ea typeface="Calibri"/>
                <a:cs typeface="Calibri"/>
              </a:defRPr>
            </a:pPr>
            <a:r>
              <a:t>Destination Detail Screen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416511E5-071C-4FA6-BC5E-0BEA926435B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5772150" y="4638675"/>
            <a:ext cx="188595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/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750" b="0" i="1">
                <a:solidFill>
                  <a:srgbClr val="64748B"/>
                </a:solidFill>
                <a:latin typeface="Calibri"/>
                <a:ea typeface="Calibri"/>
                <a:cs typeface="Calibri"/>
              </a:defRPr>
            </a:pPr>
            <a:r>
              <a:t>Highlights, gallery, and booking CTA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641C3C50-37A5-4799-8075-D351DCED38D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2286000" y="4892040"/>
            <a:ext cx="4572000" cy="18288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/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ctr">
              <a:defRPr sz="675" b="0" i="0">
                <a:solidFill>
                  <a:srgbClr val="AAAAAA"/>
                </a:solidFill>
                <a:latin typeface="Calibri"/>
                <a:ea typeface="Calibri"/>
                <a:cs typeface="Calibri"/>
              </a:defRPr>
            </a:pPr>
            <a:r>
              <a:t>AUIC – CS/SE - FYP Presentation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7AFB4A6F-BD82-4FB1-97F7-7B7EED51AEC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8503920" y="4892040"/>
            <a:ext cx="457200" cy="18288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/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r">
              <a:defRPr sz="675" b="0" i="0">
                <a:solidFill>
                  <a:srgbClr val="AAAAAA"/>
                </a:solidFill>
                <a:latin typeface="Calibri"/>
                <a:ea typeface="Calibri"/>
                <a:cs typeface="Calibri"/>
              </a:defRPr>
            </a:pPr>
            <a:r>
              <a:t>9</a:t>
            </a:r>
          </a:p>
        </p:txBody>
      </p:sp>
    </p:spTree>
    <p:extLst>
      <p:ext uri="{BB962C8B-B14F-4D97-AF65-F5344CB8AC3E}">
        <p14:creationId xmlns:p14="http://schemas.microsoft.com/office/powerpoint/2010/main" val="1524183562"/>
      </p:ext>
    </p:extLst>
  </p:cSld>
</p:sld>
</file>

<file path=ppt/slides/slide10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pic>
        <p:nvPicPr>
          <p:cNvPr id="1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2cfc189aa39243ee"/>
          <a:stretch xmlns:a="http://schemas.openxmlformats.org/drawingml/2006/main"/>
        </p:blipFill>
        <p:spPr>
          <a:xfrm xmlns:a="http://schemas.openxmlformats.org/drawingml/2006/main">
            <a:off x="182880" y="114808"/>
            <a:ext cx="1280160" cy="547624"/>
          </a:xfrm>
          <a:prstGeom xmlns:a="http://schemas.openxmlformats.org/drawingml/2006/main" prst="rect">
            <a:avLst/>
          </a:prstGeom>
        </p:spPr>
      </p:pic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CB9DA8F5-47B6-43A4-831A-6B6A76AEF79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1645920" y="190500"/>
            <a:ext cx="585216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/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ctr">
              <a:defRPr sz="2400" b="1" i="0">
                <a:solidFill>
                  <a:srgbClr val="1F7A3E"/>
                </a:solidFill>
                <a:latin typeface="Calibri"/>
                <a:ea typeface="Calibri"/>
                <a:cs typeface="Calibri"/>
              </a:defRPr>
            </a:pPr>
            <a:r>
              <a:t>App Screens (Cont..)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7F77B156-FBBB-4890-B932-D5DAB18BE63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2286000" y="4892040"/>
            <a:ext cx="4572000" cy="18288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/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ctr">
              <a:defRPr sz="675" b="0" i="0">
                <a:solidFill>
                  <a:srgbClr val="AAAAAA"/>
                </a:solidFill>
                <a:latin typeface="Calibri"/>
                <a:ea typeface="Calibri"/>
                <a:cs typeface="Calibri"/>
              </a:defRPr>
            </a:pPr>
            <a:r>
              <a:t>AUIC – CS/SE - FYP Presentation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C88E632B-EA2E-44CE-853A-A8FC8AB6A57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8503920" y="4892040"/>
            <a:ext cx="457200" cy="18288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/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r">
              <a:defRPr sz="675" b="0" i="0">
                <a:solidFill>
                  <a:srgbClr val="AAAAAA"/>
                </a:solidFill>
                <a:latin typeface="Calibri"/>
                <a:ea typeface="Calibri"/>
                <a:cs typeface="Calibri"/>
              </a:defRPr>
            </a:pPr>
            <a:r>
              <a:t>10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C74EE056-B08A-4E92-9419-D8C32659D9D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274320" y="640080"/>
            <a:ext cx="859536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/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825" b="1" i="0">
                <a:solidFill>
                  <a:srgbClr val="1F7A3E"/>
                </a:solidFill>
                <a:latin typeface="Calibri"/>
                <a:ea typeface="Calibri"/>
                <a:cs typeface="Calibri"/>
              </a:defRPr>
            </a:pPr>
            <a:r>
              <a:t>Mobile App — Booking, Selection, and Confirmation</a:t>
            </a:r>
          </a:p>
        </p:txBody>
      </p:sp>
      <p:pic>
        <p:nvPicPr>
          <p:cNvPr id="6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2cb0d184f8414456"/>
          <a:stretch xmlns:a="http://schemas.openxmlformats.org/drawingml/2006/main"/>
        </p:blipFill>
        <p:spPr>
          <a:xfrm xmlns:a="http://schemas.openxmlformats.org/drawingml/2006/main">
            <a:off x="904875" y="1063737"/>
            <a:ext cx="1571625" cy="3216050"/>
          </a:xfrm>
          <a:prstGeom xmlns:a="http://schemas.openxmlformats.org/drawingml/2006/main" prst="rect">
            <a:avLst/>
          </a:prstGeom>
        </p:spPr>
      </p:pic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B91A285E-BAEB-4CB1-84ED-4DFF9722154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771525" y="4429125"/>
            <a:ext cx="1838325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/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975" b="1" i="0">
                <a:solidFill>
                  <a:srgbClr val="1E293B"/>
                </a:solidFill>
                <a:latin typeface="Calibri"/>
                <a:ea typeface="Calibri"/>
                <a:cs typeface="Calibri"/>
              </a:defRPr>
            </a:pPr>
            <a:r>
              <a:t>Hotel Selection Screen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6C7EEBFC-5DC0-439D-A3F8-360EAD22598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771525" y="4638675"/>
            <a:ext cx="1838325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/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750" b="0" i="1">
                <a:solidFill>
                  <a:srgbClr val="64748B"/>
                </a:solidFill>
                <a:latin typeface="Calibri"/>
                <a:ea typeface="Calibri"/>
                <a:cs typeface="Calibri"/>
              </a:defRPr>
            </a:pPr>
            <a:r>
              <a:t>User chooses hotel and room type</a:t>
            </a:r>
          </a:p>
        </p:txBody>
      </p:sp>
      <p:pic>
        <p:nvPicPr>
          <p:cNvPr id="9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7493e92f2303426b"/>
          <a:stretch xmlns:a="http://schemas.openxmlformats.org/drawingml/2006/main"/>
        </p:blipFill>
        <p:spPr>
          <a:xfrm xmlns:a="http://schemas.openxmlformats.org/drawingml/2006/main">
            <a:off x="3628276" y="1028700"/>
            <a:ext cx="1554072" cy="3286125"/>
          </a:xfrm>
          <a:prstGeom xmlns:a="http://schemas.openxmlformats.org/drawingml/2006/main" prst="rect">
            <a:avLst/>
          </a:prstGeom>
        </p:spPr>
      </p:pic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A1B1D6F4-D0D5-4CB8-914C-54EEB1999DE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3486150" y="4429125"/>
            <a:ext cx="1838325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/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975" b="1" i="0">
                <a:solidFill>
                  <a:srgbClr val="1E293B"/>
                </a:solidFill>
                <a:latin typeface="Calibri"/>
                <a:ea typeface="Calibri"/>
                <a:cs typeface="Calibri"/>
              </a:defRPr>
            </a:pPr>
            <a:r>
              <a:t>Payment Screen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C7ADC19F-D7B0-4383-AD39-DABA7D67EF9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3486150" y="4638675"/>
            <a:ext cx="1838325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/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750" b="0" i="1">
                <a:solidFill>
                  <a:srgbClr val="64748B"/>
                </a:solidFill>
                <a:latin typeface="Calibri"/>
                <a:ea typeface="Calibri"/>
                <a:cs typeface="Calibri"/>
              </a:defRPr>
            </a:pPr>
            <a:r>
              <a:t>Simulated payment interface</a:t>
            </a:r>
          </a:p>
        </p:txBody>
      </p:sp>
      <p:pic>
        <p:nvPicPr>
          <p:cNvPr id="12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c3040d941b874f1f"/>
          <a:stretch xmlns:a="http://schemas.openxmlformats.org/drawingml/2006/main"/>
        </p:blipFill>
        <p:spPr>
          <a:xfrm xmlns:a="http://schemas.openxmlformats.org/drawingml/2006/main">
            <a:off x="6334125" y="1036482"/>
            <a:ext cx="1571625" cy="3270560"/>
          </a:xfrm>
          <a:prstGeom xmlns:a="http://schemas.openxmlformats.org/drawingml/2006/main" prst="rect">
            <a:avLst/>
          </a:prstGeom>
        </p:spPr>
      </p:pic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D6FF53A7-74F4-41D1-B571-00C46791074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6200775" y="4429125"/>
            <a:ext cx="1838325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/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975" b="1" i="0">
                <a:solidFill>
                  <a:srgbClr val="1E293B"/>
                </a:solidFill>
                <a:latin typeface="Calibri"/>
                <a:ea typeface="Calibri"/>
                <a:cs typeface="Calibri"/>
              </a:defRPr>
            </a:pPr>
            <a:r>
              <a:t>Booking Confirmation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2F0477AD-C777-4647-843A-BBD1ED238D7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6200775" y="4638675"/>
            <a:ext cx="1838325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/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750" b="0" i="1">
                <a:solidFill>
                  <a:srgbClr val="64748B"/>
                </a:solidFill>
                <a:latin typeface="Calibri"/>
                <a:ea typeface="Calibri"/>
                <a:cs typeface="Calibri"/>
              </a:defRPr>
            </a:pPr>
            <a:r>
              <a:t>Success state after confirmation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B0E29EB7-60FE-4982-8D49-32EBCA4CB5B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2286000" y="4892040"/>
            <a:ext cx="4572000" cy="18288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/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ctr">
              <a:defRPr sz="675" b="0" i="0">
                <a:solidFill>
                  <a:srgbClr val="AAAAAA"/>
                </a:solidFill>
                <a:latin typeface="Calibri"/>
                <a:ea typeface="Calibri"/>
                <a:cs typeface="Calibri"/>
              </a:defRPr>
            </a:pPr>
            <a:r>
              <a:t>AUIC – CS/SE - FYP Presentation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582C4F8A-A2E0-41A2-B96C-2E7224D8C46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8503920" y="4892040"/>
            <a:ext cx="457200" cy="18288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/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r">
              <a:defRPr sz="675" b="0" i="0">
                <a:solidFill>
                  <a:srgbClr val="AAAAAA"/>
                </a:solidFill>
                <a:latin typeface="Calibri"/>
                <a:ea typeface="Calibri"/>
                <a:cs typeface="Calibri"/>
              </a:defRPr>
            </a:pPr>
            <a:r>
              <a:t>10</a:t>
            </a:r>
          </a:p>
        </p:txBody>
      </p:sp>
    </p:spTree>
    <p:extLst>
      <p:ext uri="{BB962C8B-B14F-4D97-AF65-F5344CB8AC3E}">
        <p14:creationId xmlns:p14="http://schemas.microsoft.com/office/powerpoint/2010/main" val="725175143"/>
      </p:ext>
    </p:extLst>
  </p:cSld>
</p:sld>
</file>

<file path=ppt/slides/slide11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pic>
        <p:nvPicPr>
          <p:cNvPr id="1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a34d9e5662ef4c6c"/>
          <a:stretch xmlns:a="http://schemas.openxmlformats.org/drawingml/2006/main"/>
        </p:blipFill>
        <p:spPr>
          <a:xfrm xmlns:a="http://schemas.openxmlformats.org/drawingml/2006/main">
            <a:off x="182880" y="114808"/>
            <a:ext cx="1280160" cy="547624"/>
          </a:xfrm>
          <a:prstGeom xmlns:a="http://schemas.openxmlformats.org/drawingml/2006/main" prst="rect">
            <a:avLst/>
          </a:prstGeom>
        </p:spPr>
      </p:pic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40DA8DC3-CB82-426D-A4AF-D5815FBBA8A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1645920" y="190500"/>
            <a:ext cx="585216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/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ctr">
              <a:defRPr sz="2400" b="1" i="0">
                <a:solidFill>
                  <a:srgbClr val="1F7A3E"/>
                </a:solidFill>
                <a:latin typeface="Calibri"/>
                <a:ea typeface="Calibri"/>
                <a:cs typeface="Calibri"/>
              </a:defRPr>
            </a:pPr>
            <a:r>
              <a:t>App Screens (Cont..)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B28C4D9C-B1BA-45BC-8CCD-6E768D4D9E2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2286000" y="4892040"/>
            <a:ext cx="4572000" cy="18288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/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ctr">
              <a:defRPr sz="675" b="0" i="0">
                <a:solidFill>
                  <a:srgbClr val="AAAAAA"/>
                </a:solidFill>
                <a:latin typeface="Calibri"/>
                <a:ea typeface="Calibri"/>
                <a:cs typeface="Calibri"/>
              </a:defRPr>
            </a:pPr>
            <a:r>
              <a:t>AUIC – CS/SE - FYP Presentation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C30ED200-07DA-4C73-8FF0-B3B2E1AC845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8503920" y="4892040"/>
            <a:ext cx="457200" cy="18288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/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r">
              <a:defRPr sz="675" b="0" i="0">
                <a:solidFill>
                  <a:srgbClr val="AAAAAA"/>
                </a:solidFill>
                <a:latin typeface="Calibri"/>
                <a:ea typeface="Calibri"/>
                <a:cs typeface="Calibri"/>
              </a:defRPr>
            </a:pPr>
            <a:r>
              <a:t>11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C22BE979-6230-43A2-9E12-A52BEFC1745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274320" y="717804"/>
            <a:ext cx="859536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/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825" b="1" i="0">
                <a:solidFill>
                  <a:srgbClr val="1F7A3E"/>
                </a:solidFill>
                <a:latin typeface="Calibri"/>
                <a:ea typeface="Calibri"/>
                <a:cs typeface="Calibri"/>
              </a:defRPr>
            </a:pPr>
            <a:r>
              <a:t>Booking History, Profile, and Maps</a:t>
            </a:r>
          </a:p>
        </p:txBody>
      </p:sp>
      <p:pic>
        <p:nvPicPr>
          <p:cNvPr id="6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fbd806cde72745e3"/>
          <a:stretch xmlns:a="http://schemas.openxmlformats.org/drawingml/2006/main"/>
        </p:blipFill>
        <p:spPr>
          <a:xfrm xmlns:a="http://schemas.openxmlformats.org/drawingml/2006/main">
            <a:off x="974320" y="1104900"/>
            <a:ext cx="1385110" cy="2857500"/>
          </a:xfrm>
          <a:prstGeom xmlns:a="http://schemas.openxmlformats.org/drawingml/2006/main" prst="rect">
            <a:avLst/>
          </a:prstGeom>
        </p:spPr>
      </p:pic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81949DDD-82B6-422B-8B53-FA8B53CE7EE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228600" y="4142232"/>
            <a:ext cx="269748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/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900" b="1" i="0">
                <a:solidFill>
                  <a:srgbClr val="1E293B"/>
                </a:solidFill>
                <a:latin typeface="Calibri"/>
                <a:ea typeface="Calibri"/>
                <a:cs typeface="Calibri"/>
              </a:defRPr>
            </a:pPr>
            <a:r>
              <a:t>Booking History Screen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0D6DEA92-9C02-4454-B463-0E5B6A455E4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228600" y="4370832"/>
            <a:ext cx="2697480" cy="18288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/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750" b="0" i="1">
                <a:solidFill>
                  <a:srgbClr val="64748B"/>
                </a:solidFill>
                <a:latin typeface="Calibri"/>
                <a:ea typeface="Calibri"/>
                <a:cs typeface="Calibri"/>
              </a:defRPr>
            </a:pPr>
            <a:r>
              <a:t>Confirmed trips visible to the user</a:t>
            </a:r>
          </a:p>
        </p:txBody>
      </p:sp>
      <p:pic>
        <p:nvPicPr>
          <p:cNvPr id="9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32f48567269b4d3a"/>
          <a:stretch xmlns:a="http://schemas.openxmlformats.org/drawingml/2006/main"/>
        </p:blipFill>
        <p:spPr>
          <a:xfrm xmlns:a="http://schemas.openxmlformats.org/drawingml/2006/main">
            <a:off x="3738722" y="1104900"/>
            <a:ext cx="1380805" cy="2857500"/>
          </a:xfrm>
          <a:prstGeom xmlns:a="http://schemas.openxmlformats.org/drawingml/2006/main" prst="rect">
            <a:avLst/>
          </a:prstGeom>
        </p:spPr>
      </p:pic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7E18CB47-ACC6-48F2-993C-6DFBBEB9C64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3200400" y="4142232"/>
            <a:ext cx="24574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/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900" b="1" i="0">
                <a:solidFill>
                  <a:srgbClr val="1E293B"/>
                </a:solidFill>
                <a:latin typeface="Calibri"/>
                <a:ea typeface="Calibri"/>
                <a:cs typeface="Calibri"/>
              </a:defRPr>
            </a:pPr>
            <a:r>
              <a:t>Profile Management Screen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528D9C6F-CA11-4F86-B75F-912822CECE2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3200400" y="4370832"/>
            <a:ext cx="2457450" cy="18288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/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750" b="0" i="1">
                <a:solidFill>
                  <a:srgbClr val="64748B"/>
                </a:solidFill>
                <a:latin typeface="Calibri"/>
                <a:ea typeface="Calibri"/>
                <a:cs typeface="Calibri"/>
              </a:defRPr>
            </a:pPr>
            <a:r>
              <a:t>User details, counts, and quick actions</a:t>
            </a:r>
          </a:p>
        </p:txBody>
      </p:sp>
      <p:pic>
        <p:nvPicPr>
          <p:cNvPr id="12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170234f6065e4754"/>
          <a:stretch xmlns:a="http://schemas.openxmlformats.org/drawingml/2006/main"/>
        </p:blipFill>
        <p:spPr>
          <a:xfrm xmlns:a="http://schemas.openxmlformats.org/drawingml/2006/main">
            <a:off x="6512384" y="1104900"/>
            <a:ext cx="1357982" cy="2857500"/>
          </a:xfrm>
          <a:prstGeom xmlns:a="http://schemas.openxmlformats.org/drawingml/2006/main" prst="rect">
            <a:avLst/>
          </a:prstGeom>
        </p:spPr>
      </p:pic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32886FC0-6556-463C-B70D-138B9BB5363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5943600" y="4142232"/>
            <a:ext cx="24955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/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900" b="1" i="0">
                <a:solidFill>
                  <a:srgbClr val="1E293B"/>
                </a:solidFill>
                <a:latin typeface="Calibri"/>
                <a:ea typeface="Calibri"/>
                <a:cs typeface="Calibri"/>
              </a:defRPr>
            </a:pPr>
            <a:r>
              <a:t>Tourist Map Screen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2318149B-F27D-456B-A141-5A194D498F2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5943600" y="4370832"/>
            <a:ext cx="2495550" cy="18288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/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750" b="0" i="1">
                <a:solidFill>
                  <a:srgbClr val="64748B"/>
                </a:solidFill>
                <a:latin typeface="Calibri"/>
                <a:ea typeface="Calibri"/>
                <a:cs typeface="Calibri"/>
              </a:defRPr>
            </a:pPr>
            <a:r>
              <a:t>Location markers and map-based support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E6AE0375-2A41-4538-88B6-285B86FAA3E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2286000" y="4892040"/>
            <a:ext cx="4572000" cy="18288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/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ctr">
              <a:defRPr sz="675" b="0" i="0">
                <a:solidFill>
                  <a:srgbClr val="AAAAAA"/>
                </a:solidFill>
                <a:latin typeface="Calibri"/>
                <a:ea typeface="Calibri"/>
                <a:cs typeface="Calibri"/>
              </a:defRPr>
            </a:pPr>
            <a:r>
              <a:t>AUIC – CS/SE - FYP Presentation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43E3451D-F233-4425-93BE-5718C2F1410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8503920" y="4892040"/>
            <a:ext cx="457200" cy="18288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/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r">
              <a:defRPr sz="675" b="0" i="0">
                <a:solidFill>
                  <a:srgbClr val="AAAAAA"/>
                </a:solidFill>
                <a:latin typeface="Calibri"/>
                <a:ea typeface="Calibri"/>
                <a:cs typeface="Calibri"/>
              </a:defRPr>
            </a:pPr>
            <a:r>
              <a:t>11</a:t>
            </a:r>
          </a:p>
        </p:txBody>
      </p:sp>
    </p:spTree>
    <p:extLst>
      <p:ext uri="{BB962C8B-B14F-4D97-AF65-F5344CB8AC3E}">
        <p14:creationId xmlns:p14="http://schemas.microsoft.com/office/powerpoint/2010/main" val="62880484"/>
      </p:ext>
    </p:extLst>
  </p:cSld>
</p:sld>
</file>

<file path=ppt/slides/slide12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pic>
        <p:nvPicPr>
          <p:cNvPr id="1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49f0b637bcfd4063"/>
          <a:stretch xmlns:a="http://schemas.openxmlformats.org/drawingml/2006/main"/>
        </p:blipFill>
        <p:spPr>
          <a:xfrm xmlns:a="http://schemas.openxmlformats.org/drawingml/2006/main">
            <a:off x="182880" y="114808"/>
            <a:ext cx="1280160" cy="547624"/>
          </a:xfrm>
          <a:prstGeom xmlns:a="http://schemas.openxmlformats.org/drawingml/2006/main" prst="rect">
            <a:avLst/>
          </a:prstGeom>
        </p:spPr>
      </p:pic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75FD5DC5-870F-4706-AC91-FE711107F54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1645920" y="190500"/>
            <a:ext cx="585216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/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ctr">
              <a:defRPr sz="2400" b="1" i="0">
                <a:solidFill>
                  <a:srgbClr val="1F7A3E"/>
                </a:solidFill>
                <a:latin typeface="Calibri"/>
                <a:ea typeface="Calibri"/>
                <a:cs typeface="Calibri"/>
              </a:defRPr>
            </a:pPr>
            <a:r>
              <a:t>Results and Analysis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80A29901-A62B-4673-B1DF-672C63FE52A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2286000" y="4892040"/>
            <a:ext cx="4572000" cy="18288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/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ctr">
              <a:defRPr sz="675" b="0" i="0">
                <a:solidFill>
                  <a:srgbClr val="AAAAAA"/>
                </a:solidFill>
                <a:latin typeface="Calibri"/>
                <a:ea typeface="Calibri"/>
                <a:cs typeface="Calibri"/>
              </a:defRPr>
            </a:pPr>
            <a:r>
              <a:t>AUIC – CS/SE - FYP Presentation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D65491A5-40C3-4D2F-9A14-6AEFAA15431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8503920" y="4892040"/>
            <a:ext cx="457200" cy="18288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/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r">
              <a:defRPr sz="675" b="0" i="0">
                <a:solidFill>
                  <a:srgbClr val="AAAAAA"/>
                </a:solidFill>
                <a:latin typeface="Calibri"/>
                <a:ea typeface="Calibri"/>
                <a:cs typeface="Calibri"/>
              </a:defRPr>
            </a:pPr>
            <a:r>
              <a:t>12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E15BF5B5-0FCF-4348-9E1D-CA3FB1C5D21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365760" y="777240"/>
            <a:ext cx="859536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/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975" b="1" i="0">
                <a:solidFill>
                  <a:srgbClr val="1E293B"/>
                </a:solidFill>
                <a:latin typeface="Calibri"/>
                <a:ea typeface="Calibri"/>
                <a:cs typeface="Calibri"/>
              </a:defRPr>
            </a:pPr>
            <a:r>
              <a:t>Functional Testing — Core User Flows Validated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890516FF-6EC1-4180-81BF-8B73DBB4255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182880" y="1109663"/>
            <a:ext cx="1524000" cy="3238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F2937"/>
          </a:solidFill>
          <a:ln xmlns:a="http://schemas.openxmlformats.org/drawingml/2006/main" w="9525">
            <a:solidFill>
              <a:srgbClr val="FFFFFF"/>
            </a:solidFill>
          </a:ln>
        </p:spPr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A14299A0-2106-40DC-A8A4-F92BCBA5DE5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259080" y="1166813"/>
            <a:ext cx="13716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/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l">
              <a:defRPr sz="900" b="1" i="0">
                <a:solidFill>
                  <a:srgbClr val="FFFFFF"/>
                </a:solidFill>
                <a:latin typeface="Calibri"/>
                <a:ea typeface="Calibri"/>
                <a:cs typeface="Calibri"/>
              </a:defRPr>
            </a:pPr>
            <a:r>
              <a:t>Test Case ID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DC20040C-D874-4BBF-AD9D-C82EB46A3E9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1706880" y="1109663"/>
            <a:ext cx="1524000" cy="3238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F2937"/>
          </a:solidFill>
          <a:ln xmlns:a="http://schemas.openxmlformats.org/drawingml/2006/main" w="9525">
            <a:solidFill>
              <a:srgbClr val="FFFFFF"/>
            </a:solidFill>
          </a:ln>
        </p:spPr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58EBE175-04B8-4251-9BF5-B2E8D6AE536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1783080" y="1166813"/>
            <a:ext cx="13716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/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l">
              <a:defRPr sz="900" b="1" i="0">
                <a:solidFill>
                  <a:srgbClr val="FFFFFF"/>
                </a:solidFill>
                <a:latin typeface="Calibri"/>
                <a:ea typeface="Calibri"/>
                <a:cs typeface="Calibri"/>
              </a:defRPr>
            </a:pPr>
            <a:r>
              <a:t>Module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63DF2C38-FB84-444A-A931-D00897A8C4E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3230880" y="1109663"/>
            <a:ext cx="4524375" cy="3238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F2937"/>
          </a:solidFill>
          <a:ln xmlns:a="http://schemas.openxmlformats.org/drawingml/2006/main" w="9525">
            <a:solidFill>
              <a:srgbClr val="FFFFFF"/>
            </a:solidFill>
          </a:ln>
        </p:spPr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02D1AD8E-F9B1-4BBC-A792-FCC9BFAD2CC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3307080" y="1166813"/>
            <a:ext cx="4371975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/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l">
              <a:defRPr sz="900" b="1" i="0">
                <a:solidFill>
                  <a:srgbClr val="FFFFFF"/>
                </a:solidFill>
                <a:latin typeface="Calibri"/>
                <a:ea typeface="Calibri"/>
                <a:cs typeface="Calibri"/>
              </a:defRPr>
            </a:pPr>
            <a:r>
              <a:t>Description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D872FED6-67C1-448E-A4F9-102A4B42C96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7755255" y="1109663"/>
            <a:ext cx="1323975" cy="3238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F2937"/>
          </a:solidFill>
          <a:ln xmlns:a="http://schemas.openxmlformats.org/drawingml/2006/main" w="9525">
            <a:solidFill>
              <a:srgbClr val="FFFFFF"/>
            </a:solidFill>
          </a:ln>
        </p:spPr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BC3810FC-75FC-4A04-A89E-4AEB7671B58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7831455" y="1166813"/>
            <a:ext cx="1171575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/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l">
              <a:defRPr sz="900" b="1" i="0">
                <a:solidFill>
                  <a:srgbClr val="FFFFFF"/>
                </a:solidFill>
                <a:latin typeface="Calibri"/>
                <a:ea typeface="Calibri"/>
                <a:cs typeface="Calibri"/>
              </a:defRPr>
            </a:pPr>
            <a:r>
              <a:t>Status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92D0B4D7-DAEA-463C-BC7F-21C966A5312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182880" y="1433513"/>
            <a:ext cx="1524000" cy="476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6"/>
            </a:solidFill>
          </a:ln>
        </p:spPr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B64306E0-6A58-4AB8-8F4D-B654EA522DA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259080" y="1490663"/>
            <a:ext cx="137160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/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l">
              <a:defRPr sz="825" b="0" i="0">
                <a:solidFill>
                  <a:srgbClr val="1E293B"/>
                </a:solidFill>
                <a:latin typeface="Calibri"/>
                <a:ea typeface="Calibri"/>
                <a:cs typeface="Calibri"/>
              </a:defRPr>
            </a:pPr>
            <a:r>
              <a:t>TC-01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96C7351F-C0AC-4DE0-9E5A-B2B24DB71C1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1706880" y="1433513"/>
            <a:ext cx="1524000" cy="476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6"/>
            </a:solidFill>
          </a:ln>
        </p:spPr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8B71C775-31B4-492E-96CA-BA95A32D623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1783080" y="1490663"/>
            <a:ext cx="137160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/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l">
              <a:defRPr sz="825" b="0" i="0">
                <a:solidFill>
                  <a:srgbClr val="1E293B"/>
                </a:solidFill>
                <a:latin typeface="Calibri"/>
                <a:ea typeface="Calibri"/>
                <a:cs typeface="Calibri"/>
              </a:defRPr>
            </a:pPr>
            <a:r>
              <a:t>Authentication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DEEAA6AE-6C81-4FFB-881C-4F8CE9FC766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3230880" y="1433513"/>
            <a:ext cx="4524375" cy="476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6"/>
            </a:solidFill>
          </a:ln>
        </p:spPr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309ACF3B-221D-47A9-883C-C9AE27F4EE4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3307080" y="1490663"/>
            <a:ext cx="4371975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/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l">
              <a:defRPr sz="825" b="0" i="0">
                <a:solidFill>
                  <a:srgbClr val="1E293B"/>
                </a:solidFill>
                <a:latin typeface="Calibri"/>
                <a:ea typeface="Calibri"/>
                <a:cs typeface="Calibri"/>
              </a:defRPr>
            </a:pPr>
            <a:r>
              <a:t>User registers / logs in successfully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23B8B872-F04E-4EFA-AB84-8D4E7A4B7B7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7755255" y="1433513"/>
            <a:ext cx="1323975" cy="476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6"/>
            </a:solidFill>
          </a:ln>
        </p:spPr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3E23E31D-C4B3-4EEE-9B8B-51677046F0B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7831455" y="1490663"/>
            <a:ext cx="1171575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/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l">
              <a:defRPr sz="825" b="1" i="0">
                <a:solidFill>
                  <a:srgbClr val="16A34A"/>
                </a:solidFill>
                <a:latin typeface="Calibri"/>
                <a:ea typeface="Calibri"/>
                <a:cs typeface="Calibri"/>
              </a:defRPr>
            </a:pPr>
            <a:r>
              <a:t>PASS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F82272BF-62CD-4F9B-9313-6B32402D619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182880" y="1909763"/>
            <a:ext cx="1524000" cy="476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6"/>
            </a:solidFill>
          </a:ln>
        </p:spPr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02F96FAD-CDC7-413A-B261-2AF5ABC234E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259080" y="1966913"/>
            <a:ext cx="137160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/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l">
              <a:defRPr sz="825" b="0" i="0">
                <a:solidFill>
                  <a:srgbClr val="1E293B"/>
                </a:solidFill>
                <a:latin typeface="Calibri"/>
                <a:ea typeface="Calibri"/>
                <a:cs typeface="Calibri"/>
              </a:defRPr>
            </a:pPr>
            <a:r>
              <a:t>TC-02</a:t>
            </a:r>
          </a:p>
        </p:txBody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C96E7412-2F39-400B-BFCF-73E0F4712D3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1706880" y="1909763"/>
            <a:ext cx="1524000" cy="476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6"/>
            </a:solidFill>
          </a:ln>
        </p:spPr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E75E550B-6D9D-498F-9717-D1B483E2455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1783080" y="1966913"/>
            <a:ext cx="137160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/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l">
              <a:defRPr sz="825" b="0" i="0">
                <a:solidFill>
                  <a:srgbClr val="1E293B"/>
                </a:solidFill>
                <a:latin typeface="Calibri"/>
                <a:ea typeface="Calibri"/>
                <a:cs typeface="Calibri"/>
              </a:defRPr>
            </a:pPr>
            <a:r>
              <a:t>Validation</a:t>
            </a:r>
          </a:p>
        </p:txBody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986846B9-7B53-4B86-BFBC-504835AEED0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3230880" y="1909763"/>
            <a:ext cx="4524375" cy="476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6"/>
            </a:solidFill>
          </a:ln>
        </p:spPr>
      </p:sp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12769948-9A02-400E-AC37-FD82D2EFD09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3307080" y="1966913"/>
            <a:ext cx="4371975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/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l">
              <a:defRPr sz="825" b="0" i="0">
                <a:solidFill>
                  <a:srgbClr val="1E293B"/>
                </a:solidFill>
                <a:latin typeface="Calibri"/>
                <a:ea typeface="Calibri"/>
                <a:cs typeface="Calibri"/>
              </a:defRPr>
            </a:pPr>
            <a:r>
              <a:t>Invalid email or password shows appropriate feedback</a:t>
            </a:r>
          </a:p>
        </p:txBody>
      </p:sp>
      <p:sp>
        <p:nvSpPr>
          <p:cNvPr id="28" name="">
            <a:extLst xmlns:a="http://schemas.openxmlformats.org/drawingml/2006/main">
              <a:ext uri="{FF2B5EF4-FFF2-40B4-BE49-F238E27FC236}">
                <a16:creationId xmlns:a16="http://schemas.microsoft.com/office/drawing/2014/main" id="{E32A2D56-4476-48B4-BE31-C3C9246D460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7755255" y="1909763"/>
            <a:ext cx="1323975" cy="476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6"/>
            </a:solidFill>
          </a:ln>
        </p:spPr>
      </p:sp>
      <p:sp>
        <p:nvSpPr>
          <p:cNvPr id="29" name="">
            <a:extLst xmlns:a="http://schemas.openxmlformats.org/drawingml/2006/main">
              <a:ext uri="{FF2B5EF4-FFF2-40B4-BE49-F238E27FC236}">
                <a16:creationId xmlns:a16="http://schemas.microsoft.com/office/drawing/2014/main" id="{1EE28508-E3AC-4855-9869-6CDCA61FC71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7831455" y="1966913"/>
            <a:ext cx="1171575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/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l">
              <a:defRPr sz="825" b="1" i="0">
                <a:solidFill>
                  <a:srgbClr val="16A34A"/>
                </a:solidFill>
                <a:latin typeface="Calibri"/>
                <a:ea typeface="Calibri"/>
                <a:cs typeface="Calibri"/>
              </a:defRPr>
            </a:pPr>
            <a:r>
              <a:t>PASS</a:t>
            </a:r>
          </a:p>
        </p:txBody>
      </p:sp>
      <p:sp>
        <p:nvSpPr>
          <p:cNvPr id="30" name="">
            <a:extLst xmlns:a="http://schemas.openxmlformats.org/drawingml/2006/main">
              <a:ext uri="{FF2B5EF4-FFF2-40B4-BE49-F238E27FC236}">
                <a16:creationId xmlns:a16="http://schemas.microsoft.com/office/drawing/2014/main" id="{10C14078-2D0C-43C7-8B90-7C198D39AF8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182880" y="2386013"/>
            <a:ext cx="1524000" cy="476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6"/>
            </a:solidFill>
          </a:ln>
        </p:spPr>
      </p:sp>
      <p:sp>
        <p:nvSpPr>
          <p:cNvPr id="31" name="">
            <a:extLst xmlns:a="http://schemas.openxmlformats.org/drawingml/2006/main">
              <a:ext uri="{FF2B5EF4-FFF2-40B4-BE49-F238E27FC236}">
                <a16:creationId xmlns:a16="http://schemas.microsoft.com/office/drawing/2014/main" id="{36FE3E65-B0BD-4CE3-9A38-740527522E2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259080" y="2443163"/>
            <a:ext cx="137160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/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l">
              <a:defRPr sz="825" b="0" i="0">
                <a:solidFill>
                  <a:srgbClr val="1E293B"/>
                </a:solidFill>
                <a:latin typeface="Calibri"/>
                <a:ea typeface="Calibri"/>
                <a:cs typeface="Calibri"/>
              </a:defRPr>
            </a:pPr>
            <a:r>
              <a:t>TC-03</a:t>
            </a:r>
          </a:p>
        </p:txBody>
      </p:sp>
      <p:sp>
        <p:nvSpPr>
          <p:cNvPr id="32" name="">
            <a:extLst xmlns:a="http://schemas.openxmlformats.org/drawingml/2006/main">
              <a:ext uri="{FF2B5EF4-FFF2-40B4-BE49-F238E27FC236}">
                <a16:creationId xmlns:a16="http://schemas.microsoft.com/office/drawing/2014/main" id="{3677F9E5-0263-4A71-A89B-DEC8C39C57C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1706880" y="2386013"/>
            <a:ext cx="1524000" cy="476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6"/>
            </a:solidFill>
          </a:ln>
        </p:spPr>
      </p:sp>
      <p:sp>
        <p:nvSpPr>
          <p:cNvPr id="33" name="">
            <a:extLst xmlns:a="http://schemas.openxmlformats.org/drawingml/2006/main">
              <a:ext uri="{FF2B5EF4-FFF2-40B4-BE49-F238E27FC236}">
                <a16:creationId xmlns:a16="http://schemas.microsoft.com/office/drawing/2014/main" id="{F2CDDD59-8EB8-4406-B005-42C648ABF62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1783080" y="2443163"/>
            <a:ext cx="137160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/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l">
              <a:defRPr sz="825" b="0" i="0">
                <a:solidFill>
                  <a:srgbClr val="1E293B"/>
                </a:solidFill>
                <a:latin typeface="Calibri"/>
                <a:ea typeface="Calibri"/>
                <a:cs typeface="Calibri"/>
              </a:defRPr>
            </a:pPr>
            <a:r>
              <a:t>Booking</a:t>
            </a:r>
          </a:p>
        </p:txBody>
      </p:sp>
      <p:sp>
        <p:nvSpPr>
          <p:cNvPr id="34" name="">
            <a:extLst xmlns:a="http://schemas.openxmlformats.org/drawingml/2006/main">
              <a:ext uri="{FF2B5EF4-FFF2-40B4-BE49-F238E27FC236}">
                <a16:creationId xmlns:a16="http://schemas.microsoft.com/office/drawing/2014/main" id="{0C0E25D8-300B-424C-A35A-4502D19FDF1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3230880" y="2386013"/>
            <a:ext cx="4524375" cy="476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6"/>
            </a:solidFill>
          </a:ln>
        </p:spPr>
      </p:sp>
      <p:sp>
        <p:nvSpPr>
          <p:cNvPr id="35" name="">
            <a:extLst xmlns:a="http://schemas.openxmlformats.org/drawingml/2006/main">
              <a:ext uri="{FF2B5EF4-FFF2-40B4-BE49-F238E27FC236}">
                <a16:creationId xmlns:a16="http://schemas.microsoft.com/office/drawing/2014/main" id="{099FA0EA-D3FB-4737-BB57-885E9B76F76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3307080" y="2443163"/>
            <a:ext cx="4371975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/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l">
              <a:defRPr sz="825" b="0" i="0">
                <a:solidFill>
                  <a:srgbClr val="1E293B"/>
                </a:solidFill>
                <a:latin typeface="Calibri"/>
                <a:ea typeface="Calibri"/>
                <a:cs typeface="Calibri"/>
              </a:defRPr>
            </a:pPr>
            <a:r>
              <a:t>Destination and hotel selection flow completes correctly</a:t>
            </a:r>
          </a:p>
        </p:txBody>
      </p:sp>
      <p:sp>
        <p:nvSpPr>
          <p:cNvPr id="36" name="">
            <a:extLst xmlns:a="http://schemas.openxmlformats.org/drawingml/2006/main">
              <a:ext uri="{FF2B5EF4-FFF2-40B4-BE49-F238E27FC236}">
                <a16:creationId xmlns:a16="http://schemas.microsoft.com/office/drawing/2014/main" id="{2F2DD06E-4AE4-4DC9-9C08-772EC27C1AE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7755255" y="2386013"/>
            <a:ext cx="1323975" cy="476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6"/>
            </a:solidFill>
          </a:ln>
        </p:spPr>
      </p:sp>
      <p:sp>
        <p:nvSpPr>
          <p:cNvPr id="37" name="">
            <a:extLst xmlns:a="http://schemas.openxmlformats.org/drawingml/2006/main">
              <a:ext uri="{FF2B5EF4-FFF2-40B4-BE49-F238E27FC236}">
                <a16:creationId xmlns:a16="http://schemas.microsoft.com/office/drawing/2014/main" id="{86D308CB-94A3-4BF3-B77C-6A5D9A7C6AF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7831455" y="2443163"/>
            <a:ext cx="1171575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/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l">
              <a:defRPr sz="825" b="1" i="0">
                <a:solidFill>
                  <a:srgbClr val="16A34A"/>
                </a:solidFill>
                <a:latin typeface="Calibri"/>
                <a:ea typeface="Calibri"/>
                <a:cs typeface="Calibri"/>
              </a:defRPr>
            </a:pPr>
            <a:r>
              <a:t>PASS</a:t>
            </a:r>
          </a:p>
        </p:txBody>
      </p:sp>
      <p:sp>
        <p:nvSpPr>
          <p:cNvPr id="38" name="">
            <a:extLst xmlns:a="http://schemas.openxmlformats.org/drawingml/2006/main">
              <a:ext uri="{FF2B5EF4-FFF2-40B4-BE49-F238E27FC236}">
                <a16:creationId xmlns:a16="http://schemas.microsoft.com/office/drawing/2014/main" id="{D9EAA093-FC6C-4A94-9EB6-7D44FCC3100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182880" y="2862263"/>
            <a:ext cx="1524000" cy="476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6"/>
            </a:solidFill>
          </a:ln>
        </p:spPr>
      </p:sp>
      <p:sp>
        <p:nvSpPr>
          <p:cNvPr id="39" name="">
            <a:extLst xmlns:a="http://schemas.openxmlformats.org/drawingml/2006/main">
              <a:ext uri="{FF2B5EF4-FFF2-40B4-BE49-F238E27FC236}">
                <a16:creationId xmlns:a16="http://schemas.microsoft.com/office/drawing/2014/main" id="{D3BE672B-EFB3-4B0D-9437-A262564865C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259080" y="2919413"/>
            <a:ext cx="137160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/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l">
              <a:defRPr sz="825" b="0" i="0">
                <a:solidFill>
                  <a:srgbClr val="1E293B"/>
                </a:solidFill>
                <a:latin typeface="Calibri"/>
                <a:ea typeface="Calibri"/>
                <a:cs typeface="Calibri"/>
              </a:defRPr>
            </a:pPr>
            <a:r>
              <a:t>TC-04</a:t>
            </a:r>
          </a:p>
        </p:txBody>
      </p:sp>
      <p:sp>
        <p:nvSpPr>
          <p:cNvPr id="40" name="">
            <a:extLst xmlns:a="http://schemas.openxmlformats.org/drawingml/2006/main">
              <a:ext uri="{FF2B5EF4-FFF2-40B4-BE49-F238E27FC236}">
                <a16:creationId xmlns:a16="http://schemas.microsoft.com/office/drawing/2014/main" id="{41F54F29-E477-4CB0-BB3B-0FD0DF58C67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1706880" y="2862263"/>
            <a:ext cx="1524000" cy="476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6"/>
            </a:solidFill>
          </a:ln>
        </p:spPr>
      </p:sp>
      <p:sp>
        <p:nvSpPr>
          <p:cNvPr id="41" name="">
            <a:extLst xmlns:a="http://schemas.openxmlformats.org/drawingml/2006/main">
              <a:ext uri="{FF2B5EF4-FFF2-40B4-BE49-F238E27FC236}">
                <a16:creationId xmlns:a16="http://schemas.microsoft.com/office/drawing/2014/main" id="{0E22438E-FEEA-46AA-BD5F-20D8F201805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1783080" y="2919413"/>
            <a:ext cx="137160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/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l">
              <a:defRPr sz="825" b="0" i="0">
                <a:solidFill>
                  <a:srgbClr val="1E293B"/>
                </a:solidFill>
                <a:latin typeface="Calibri"/>
                <a:ea typeface="Calibri"/>
                <a:cs typeface="Calibri"/>
              </a:defRPr>
            </a:pPr>
            <a:r>
              <a:t>Payment</a:t>
            </a:r>
          </a:p>
        </p:txBody>
      </p:sp>
      <p:sp>
        <p:nvSpPr>
          <p:cNvPr id="42" name="">
            <a:extLst xmlns:a="http://schemas.openxmlformats.org/drawingml/2006/main">
              <a:ext uri="{FF2B5EF4-FFF2-40B4-BE49-F238E27FC236}">
                <a16:creationId xmlns:a16="http://schemas.microsoft.com/office/drawing/2014/main" id="{BABA027E-6138-49DB-A336-C2D01C68828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3230880" y="2862263"/>
            <a:ext cx="4524375" cy="476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6"/>
            </a:solidFill>
          </a:ln>
        </p:spPr>
      </p:sp>
      <p:sp>
        <p:nvSpPr>
          <p:cNvPr id="43" name="">
            <a:extLst xmlns:a="http://schemas.openxmlformats.org/drawingml/2006/main">
              <a:ext uri="{FF2B5EF4-FFF2-40B4-BE49-F238E27FC236}">
                <a16:creationId xmlns:a16="http://schemas.microsoft.com/office/drawing/2014/main" id="{076C4436-7B8E-4A71-8FB3-F0C211D0947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3307080" y="2919413"/>
            <a:ext cx="4371975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/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l">
              <a:defRPr sz="825" b="0" i="0">
                <a:solidFill>
                  <a:srgbClr val="1E293B"/>
                </a:solidFill>
                <a:latin typeface="Calibri"/>
                <a:ea typeface="Calibri"/>
                <a:cs typeface="Calibri"/>
              </a:defRPr>
            </a:pPr>
            <a:r>
              <a:t>Simulated payment moves to booking success state</a:t>
            </a:r>
          </a:p>
        </p:txBody>
      </p:sp>
      <p:sp>
        <p:nvSpPr>
          <p:cNvPr id="44" name="">
            <a:extLst xmlns:a="http://schemas.openxmlformats.org/drawingml/2006/main">
              <a:ext uri="{FF2B5EF4-FFF2-40B4-BE49-F238E27FC236}">
                <a16:creationId xmlns:a16="http://schemas.microsoft.com/office/drawing/2014/main" id="{C4A87B3A-B28E-4B9F-9AFA-12126724B03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7755255" y="2862263"/>
            <a:ext cx="1323975" cy="476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6"/>
            </a:solidFill>
          </a:ln>
        </p:spPr>
      </p:sp>
      <p:sp>
        <p:nvSpPr>
          <p:cNvPr id="45" name="">
            <a:extLst xmlns:a="http://schemas.openxmlformats.org/drawingml/2006/main">
              <a:ext uri="{FF2B5EF4-FFF2-40B4-BE49-F238E27FC236}">
                <a16:creationId xmlns:a16="http://schemas.microsoft.com/office/drawing/2014/main" id="{F51C6EA9-B65D-4E4F-898F-74D671AAE27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7831455" y="2919413"/>
            <a:ext cx="1171575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/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l">
              <a:defRPr sz="825" b="1" i="0">
                <a:solidFill>
                  <a:srgbClr val="16A34A"/>
                </a:solidFill>
                <a:latin typeface="Calibri"/>
                <a:ea typeface="Calibri"/>
                <a:cs typeface="Calibri"/>
              </a:defRPr>
            </a:pPr>
            <a:r>
              <a:t>PASS</a:t>
            </a:r>
          </a:p>
        </p:txBody>
      </p:sp>
      <p:sp>
        <p:nvSpPr>
          <p:cNvPr id="46" name="">
            <a:extLst xmlns:a="http://schemas.openxmlformats.org/drawingml/2006/main">
              <a:ext uri="{FF2B5EF4-FFF2-40B4-BE49-F238E27FC236}">
                <a16:creationId xmlns:a16="http://schemas.microsoft.com/office/drawing/2014/main" id="{FD7AA8E5-C9BF-40FC-B6B8-2F92A82BF82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182880" y="3338513"/>
            <a:ext cx="1524000" cy="476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6"/>
            </a:solidFill>
          </a:ln>
        </p:spPr>
      </p:sp>
      <p:sp>
        <p:nvSpPr>
          <p:cNvPr id="47" name="">
            <a:extLst xmlns:a="http://schemas.openxmlformats.org/drawingml/2006/main">
              <a:ext uri="{FF2B5EF4-FFF2-40B4-BE49-F238E27FC236}">
                <a16:creationId xmlns:a16="http://schemas.microsoft.com/office/drawing/2014/main" id="{2BBC5E13-0158-47DD-B50A-EC0B076DEE7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259080" y="3395663"/>
            <a:ext cx="137160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/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l">
              <a:defRPr sz="825" b="0" i="0">
                <a:solidFill>
                  <a:srgbClr val="1E293B"/>
                </a:solidFill>
                <a:latin typeface="Calibri"/>
                <a:ea typeface="Calibri"/>
                <a:cs typeface="Calibri"/>
              </a:defRPr>
            </a:pPr>
            <a:r>
              <a:t>TC-05</a:t>
            </a:r>
          </a:p>
        </p:txBody>
      </p:sp>
      <p:sp>
        <p:nvSpPr>
          <p:cNvPr id="48" name="">
            <a:extLst xmlns:a="http://schemas.openxmlformats.org/drawingml/2006/main">
              <a:ext uri="{FF2B5EF4-FFF2-40B4-BE49-F238E27FC236}">
                <a16:creationId xmlns:a16="http://schemas.microsoft.com/office/drawing/2014/main" id="{E2621A6A-932D-4A05-95CD-D52D3D5FECE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1706880" y="3338513"/>
            <a:ext cx="1524000" cy="476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6"/>
            </a:solidFill>
          </a:ln>
        </p:spPr>
      </p:sp>
      <p:sp>
        <p:nvSpPr>
          <p:cNvPr id="49" name="">
            <a:extLst xmlns:a="http://schemas.openxmlformats.org/drawingml/2006/main">
              <a:ext uri="{FF2B5EF4-FFF2-40B4-BE49-F238E27FC236}">
                <a16:creationId xmlns:a16="http://schemas.microsoft.com/office/drawing/2014/main" id="{9F2A762A-E2CD-4E30-B76A-D87DDBFB16D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1783080" y="3395663"/>
            <a:ext cx="137160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/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l">
              <a:defRPr sz="825" b="0" i="0">
                <a:solidFill>
                  <a:srgbClr val="1E293B"/>
                </a:solidFill>
                <a:latin typeface="Calibri"/>
                <a:ea typeface="Calibri"/>
                <a:cs typeface="Calibri"/>
              </a:defRPr>
            </a:pPr>
            <a:r>
              <a:t>History</a:t>
            </a:r>
          </a:p>
        </p:txBody>
      </p:sp>
      <p:sp>
        <p:nvSpPr>
          <p:cNvPr id="50" name="">
            <a:extLst xmlns:a="http://schemas.openxmlformats.org/drawingml/2006/main">
              <a:ext uri="{FF2B5EF4-FFF2-40B4-BE49-F238E27FC236}">
                <a16:creationId xmlns:a16="http://schemas.microsoft.com/office/drawing/2014/main" id="{D41E8ACC-51A3-416D-8C7E-EDA77970A33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3230880" y="3338513"/>
            <a:ext cx="4524375" cy="476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6"/>
            </a:solidFill>
          </a:ln>
        </p:spPr>
      </p:sp>
      <p:sp>
        <p:nvSpPr>
          <p:cNvPr id="51" name="">
            <a:extLst xmlns:a="http://schemas.openxmlformats.org/drawingml/2006/main">
              <a:ext uri="{FF2B5EF4-FFF2-40B4-BE49-F238E27FC236}">
                <a16:creationId xmlns:a16="http://schemas.microsoft.com/office/drawing/2014/main" id="{76A1C6E1-3A46-403C-A1B9-1896949A878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3307080" y="3395663"/>
            <a:ext cx="4371975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/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l">
              <a:defRPr sz="825" b="0" i="0">
                <a:solidFill>
                  <a:srgbClr val="1E293B"/>
                </a:solidFill>
                <a:latin typeface="Calibri"/>
                <a:ea typeface="Calibri"/>
                <a:cs typeface="Calibri"/>
              </a:defRPr>
            </a:pPr>
            <a:r>
              <a:t>Confirmed booking appears in booking history</a:t>
            </a:r>
          </a:p>
        </p:txBody>
      </p:sp>
      <p:sp>
        <p:nvSpPr>
          <p:cNvPr id="52" name="">
            <a:extLst xmlns:a="http://schemas.openxmlformats.org/drawingml/2006/main">
              <a:ext uri="{FF2B5EF4-FFF2-40B4-BE49-F238E27FC236}">
                <a16:creationId xmlns:a16="http://schemas.microsoft.com/office/drawing/2014/main" id="{94C5009D-DC89-4D9B-A87C-8F59CB5B2A8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7755255" y="3338513"/>
            <a:ext cx="1323975" cy="476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6"/>
            </a:solidFill>
          </a:ln>
        </p:spPr>
      </p:sp>
      <p:sp>
        <p:nvSpPr>
          <p:cNvPr id="53" name="">
            <a:extLst xmlns:a="http://schemas.openxmlformats.org/drawingml/2006/main">
              <a:ext uri="{FF2B5EF4-FFF2-40B4-BE49-F238E27FC236}">
                <a16:creationId xmlns:a16="http://schemas.microsoft.com/office/drawing/2014/main" id="{6009C52F-4061-46A3-BA6A-7B4F02B303A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7831455" y="3395663"/>
            <a:ext cx="1171575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/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l">
              <a:defRPr sz="825" b="1" i="0">
                <a:solidFill>
                  <a:srgbClr val="16A34A"/>
                </a:solidFill>
                <a:latin typeface="Calibri"/>
                <a:ea typeface="Calibri"/>
                <a:cs typeface="Calibri"/>
              </a:defRPr>
            </a:pPr>
            <a:r>
              <a:t>PASS</a:t>
            </a:r>
          </a:p>
        </p:txBody>
      </p:sp>
      <p:sp>
        <p:nvSpPr>
          <p:cNvPr id="54" name="">
            <a:extLst xmlns:a="http://schemas.openxmlformats.org/drawingml/2006/main">
              <a:ext uri="{FF2B5EF4-FFF2-40B4-BE49-F238E27FC236}">
                <a16:creationId xmlns:a16="http://schemas.microsoft.com/office/drawing/2014/main" id="{B9419574-B325-410E-A14B-B4F1F2B31B5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182880" y="3814763"/>
            <a:ext cx="1524000" cy="476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6"/>
            </a:solidFill>
          </a:ln>
        </p:spPr>
      </p:sp>
      <p:sp>
        <p:nvSpPr>
          <p:cNvPr id="55" name="">
            <a:extLst xmlns:a="http://schemas.openxmlformats.org/drawingml/2006/main">
              <a:ext uri="{FF2B5EF4-FFF2-40B4-BE49-F238E27FC236}">
                <a16:creationId xmlns:a16="http://schemas.microsoft.com/office/drawing/2014/main" id="{3834E05C-2F3D-4E7E-B083-28A50497B54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259080" y="3871913"/>
            <a:ext cx="137160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/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l">
              <a:defRPr sz="825" b="0" i="0">
                <a:solidFill>
                  <a:srgbClr val="1E293B"/>
                </a:solidFill>
                <a:latin typeface="Calibri"/>
                <a:ea typeface="Calibri"/>
                <a:cs typeface="Calibri"/>
              </a:defRPr>
            </a:pPr>
            <a:r>
              <a:t>TC-06</a:t>
            </a:r>
          </a:p>
        </p:txBody>
      </p:sp>
      <p:sp>
        <p:nvSpPr>
          <p:cNvPr id="56" name="">
            <a:extLst xmlns:a="http://schemas.openxmlformats.org/drawingml/2006/main">
              <a:ext uri="{FF2B5EF4-FFF2-40B4-BE49-F238E27FC236}">
                <a16:creationId xmlns:a16="http://schemas.microsoft.com/office/drawing/2014/main" id="{5B65B909-3DCA-462A-8762-4B6B0E017D9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1706880" y="3814763"/>
            <a:ext cx="1524000" cy="476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6"/>
            </a:solidFill>
          </a:ln>
        </p:spPr>
      </p:sp>
      <p:sp>
        <p:nvSpPr>
          <p:cNvPr id="57" name="">
            <a:extLst xmlns:a="http://schemas.openxmlformats.org/drawingml/2006/main">
              <a:ext uri="{FF2B5EF4-FFF2-40B4-BE49-F238E27FC236}">
                <a16:creationId xmlns:a16="http://schemas.microsoft.com/office/drawing/2014/main" id="{AFF6A513-31CA-4FA5-A165-7D1084AABC1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1783080" y="3871913"/>
            <a:ext cx="137160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/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l">
              <a:defRPr sz="825" b="0" i="0">
                <a:solidFill>
                  <a:srgbClr val="1E293B"/>
                </a:solidFill>
                <a:latin typeface="Calibri"/>
                <a:ea typeface="Calibri"/>
                <a:cs typeface="Calibri"/>
              </a:defRPr>
            </a:pPr>
            <a:r>
              <a:t>Maps / Listings</a:t>
            </a:r>
          </a:p>
        </p:txBody>
      </p:sp>
      <p:sp>
        <p:nvSpPr>
          <p:cNvPr id="58" name="">
            <a:extLst xmlns:a="http://schemas.openxmlformats.org/drawingml/2006/main">
              <a:ext uri="{FF2B5EF4-FFF2-40B4-BE49-F238E27FC236}">
                <a16:creationId xmlns:a16="http://schemas.microsoft.com/office/drawing/2014/main" id="{907E5527-FBFC-4BFC-AA07-BBE382AB9B5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3230880" y="3814763"/>
            <a:ext cx="4524375" cy="476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6"/>
            </a:solidFill>
          </a:ln>
        </p:spPr>
      </p:sp>
      <p:sp>
        <p:nvSpPr>
          <p:cNvPr id="59" name="">
            <a:extLst xmlns:a="http://schemas.openxmlformats.org/drawingml/2006/main">
              <a:ext uri="{FF2B5EF4-FFF2-40B4-BE49-F238E27FC236}">
                <a16:creationId xmlns:a16="http://schemas.microsoft.com/office/drawing/2014/main" id="{D2C1585E-7306-4B54-9ECA-091132CD7CD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3307080" y="3871913"/>
            <a:ext cx="4371975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/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l">
              <a:defRPr sz="825" b="0" i="0">
                <a:solidFill>
                  <a:srgbClr val="1E293B"/>
                </a:solidFill>
                <a:latin typeface="Calibri"/>
                <a:ea typeface="Calibri"/>
                <a:cs typeface="Calibri"/>
              </a:defRPr>
            </a:pPr>
            <a:r>
              <a:t>Map loads and local listings remain accessible</a:t>
            </a:r>
          </a:p>
        </p:txBody>
      </p:sp>
      <p:sp>
        <p:nvSpPr>
          <p:cNvPr id="60" name="">
            <a:extLst xmlns:a="http://schemas.openxmlformats.org/drawingml/2006/main">
              <a:ext uri="{FF2B5EF4-FFF2-40B4-BE49-F238E27FC236}">
                <a16:creationId xmlns:a16="http://schemas.microsoft.com/office/drawing/2014/main" id="{A88A6BB5-A5A4-4D09-9A5E-7383610C4D1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7755255" y="3814763"/>
            <a:ext cx="1323975" cy="476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6"/>
            </a:solidFill>
          </a:ln>
        </p:spPr>
      </p:sp>
      <p:sp>
        <p:nvSpPr>
          <p:cNvPr id="61" name="">
            <a:extLst xmlns:a="http://schemas.openxmlformats.org/drawingml/2006/main">
              <a:ext uri="{FF2B5EF4-FFF2-40B4-BE49-F238E27FC236}">
                <a16:creationId xmlns:a16="http://schemas.microsoft.com/office/drawing/2014/main" id="{5AF90921-0A72-49F7-8389-E01E896FA6F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7831455" y="3871913"/>
            <a:ext cx="1171575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/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l">
              <a:defRPr sz="825" b="1" i="0">
                <a:solidFill>
                  <a:srgbClr val="16A34A"/>
                </a:solidFill>
                <a:latin typeface="Calibri"/>
                <a:ea typeface="Calibri"/>
                <a:cs typeface="Calibri"/>
              </a:defRPr>
            </a:pPr>
            <a:r>
              <a:t>PASS</a:t>
            </a:r>
          </a:p>
        </p:txBody>
      </p:sp>
    </p:spTree>
    <p:extLst>
      <p:ext uri="{BB962C8B-B14F-4D97-AF65-F5344CB8AC3E}">
        <p14:creationId xmlns:p14="http://schemas.microsoft.com/office/powerpoint/2010/main" val="1563651050"/>
      </p:ext>
    </p:extLst>
  </p:cSld>
</p:sld>
</file>

<file path=ppt/slides/slide13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pic>
        <p:nvPicPr>
          <p:cNvPr id="1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b79bf00f7e3e45da"/>
          <a:stretch xmlns:a="http://schemas.openxmlformats.org/drawingml/2006/main"/>
        </p:blipFill>
        <p:spPr>
          <a:xfrm xmlns:a="http://schemas.openxmlformats.org/drawingml/2006/main">
            <a:off x="182880" y="114808"/>
            <a:ext cx="1280160" cy="547624"/>
          </a:xfrm>
          <a:prstGeom xmlns:a="http://schemas.openxmlformats.org/drawingml/2006/main" prst="rect">
            <a:avLst/>
          </a:prstGeom>
        </p:spPr>
      </p:pic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97EEB372-A401-4D68-BF46-C3541767049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1645920" y="190500"/>
            <a:ext cx="585216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/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ctr">
              <a:defRPr sz="2400" b="1" i="0">
                <a:solidFill>
                  <a:srgbClr val="1F7A3E"/>
                </a:solidFill>
                <a:latin typeface="Calibri"/>
                <a:ea typeface="Calibri"/>
                <a:cs typeface="Calibri"/>
              </a:defRPr>
            </a:pPr>
            <a:r>
              <a:t>Results and Analysis (Cont..)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07B459A1-5C75-49C0-B652-9BAFA456084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2286000" y="4892040"/>
            <a:ext cx="4572000" cy="18288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/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ctr">
              <a:defRPr sz="675" b="0" i="0">
                <a:solidFill>
                  <a:srgbClr val="AAAAAA"/>
                </a:solidFill>
                <a:latin typeface="Calibri"/>
                <a:ea typeface="Calibri"/>
                <a:cs typeface="Calibri"/>
              </a:defRPr>
            </a:pPr>
            <a:r>
              <a:t>AUIC – CS/SE - FYP Presentation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E5E157CD-1528-4E5E-A355-566CBB9744B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8503920" y="4892040"/>
            <a:ext cx="457200" cy="18288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/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r">
              <a:defRPr sz="675" b="0" i="0">
                <a:solidFill>
                  <a:srgbClr val="AAAAAA"/>
                </a:solidFill>
                <a:latin typeface="Calibri"/>
                <a:ea typeface="Calibri"/>
                <a:cs typeface="Calibri"/>
              </a:defRPr>
            </a:pPr>
            <a:r>
              <a:t>13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A6B1B51A-9C76-432F-AC10-2F8AC9F6581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3039332" y="749808"/>
            <a:ext cx="3431096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/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975" b="1" i="0">
                <a:solidFill>
                  <a:srgbClr val="1E293B"/>
                </a:solidFill>
                <a:latin typeface="Calibri"/>
                <a:ea typeface="Calibri"/>
                <a:cs typeface="Calibri"/>
              </a:defRPr>
            </a:pPr>
            <a:r>
              <a:t>Prototype Readiness &amp; Cloud Data View</a:t>
            </a:r>
          </a:p>
        </p:txBody>
      </p:sp>
      <p:pic>
        <p:nvPicPr>
          <p:cNvPr id="6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30cc9b092d8c4ef1"/>
          <a:stretch xmlns:a="http://schemas.openxmlformats.org/drawingml/2006/main"/>
        </p:blipFill>
        <p:spPr>
          <a:xfrm xmlns:a="http://schemas.openxmlformats.org/drawingml/2006/main">
            <a:off x="436245" y="1588660"/>
            <a:ext cx="3619500" cy="1442306"/>
          </a:xfrm>
          <a:prstGeom xmlns:a="http://schemas.openxmlformats.org/drawingml/2006/main" prst="rect">
            <a:avLst/>
          </a:prstGeom>
        </p:spPr>
      </p:pic>
      <p:pic>
        <p:nvPicPr>
          <p:cNvPr id="7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982da312cef84a06"/>
          <a:stretch xmlns:a="http://schemas.openxmlformats.org/drawingml/2006/main"/>
        </p:blipFill>
        <p:spPr>
          <a:xfrm xmlns:a="http://schemas.openxmlformats.org/drawingml/2006/main">
            <a:off x="4663440" y="1574218"/>
            <a:ext cx="4023360" cy="1835045"/>
          </a:xfrm>
          <a:prstGeom xmlns:a="http://schemas.openxmlformats.org/drawingml/2006/main" prst="rect">
            <a:avLst/>
          </a:prstGeom>
        </p:spPr>
      </p:pic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3903E22A-BD63-4292-A5A9-CC63FE12CE7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571500" y="3886200"/>
            <a:ext cx="8115300" cy="476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/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900" b="0" i="0">
                <a:solidFill>
                  <a:srgbClr val="1E293B"/>
                </a:solidFill>
                <a:latin typeface="Calibri"/>
                <a:ea typeface="Calibri"/>
                <a:cs typeface="Calibri"/>
              </a:defRPr>
            </a:pPr>
            <a:r>
              <a:t>The prototype demonstrates structured Firestore collections, initialized cloud data, and a maintainable service-driven design that can be extended beyond the current academic scope.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19A6E897-6987-49D7-9388-1721A41174E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571500" y="4286250"/>
            <a:ext cx="811530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/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825" b="0" i="1">
                <a:solidFill>
                  <a:srgbClr val="64748B"/>
                </a:solidFill>
                <a:latin typeface="Calibri"/>
                <a:ea typeface="Calibri"/>
                <a:cs typeface="Calibri"/>
              </a:defRPr>
            </a:pPr>
            <a:r>
              <a:t>Key outcome: the app is not just visually complete; it also has coherent architecture, reusable modules, and a practical path toward full deployment.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E89CD8D8-9792-4674-8F7F-E47A9D93587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2286000" y="4892040"/>
            <a:ext cx="4572000" cy="18288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/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ctr">
              <a:defRPr sz="675" b="0" i="0">
                <a:solidFill>
                  <a:srgbClr val="AAAAAA"/>
                </a:solidFill>
                <a:latin typeface="Calibri"/>
                <a:ea typeface="Calibri"/>
                <a:cs typeface="Calibri"/>
              </a:defRPr>
            </a:pPr>
            <a:r>
              <a:t>AUIC – CS/SE - FYP Presentation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E0A8DBAE-E671-4ADD-9A11-A4B0EA755F3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8503920" y="4892040"/>
            <a:ext cx="457200" cy="18288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/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r">
              <a:defRPr sz="675" b="0" i="0">
                <a:solidFill>
                  <a:srgbClr val="AAAAAA"/>
                </a:solidFill>
                <a:latin typeface="Calibri"/>
                <a:ea typeface="Calibri"/>
                <a:cs typeface="Calibri"/>
              </a:defRPr>
            </a:pPr>
            <a:r>
              <a:t>13</a:t>
            </a:r>
          </a:p>
        </p:txBody>
      </p:sp>
    </p:spTree>
    <p:extLst>
      <p:ext uri="{BB962C8B-B14F-4D97-AF65-F5344CB8AC3E}">
        <p14:creationId xmlns:p14="http://schemas.microsoft.com/office/powerpoint/2010/main" val="870019546"/>
      </p:ext>
    </p:extLst>
  </p:cSld>
</p:sld>
</file>

<file path=ppt/slides/slide14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pic>
        <p:nvPicPr>
          <p:cNvPr id="1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b89d690b611d4036"/>
          <a:stretch xmlns:a="http://schemas.openxmlformats.org/drawingml/2006/main"/>
        </p:blipFill>
        <p:spPr>
          <a:xfrm xmlns:a="http://schemas.openxmlformats.org/drawingml/2006/main">
            <a:off x="182880" y="114808"/>
            <a:ext cx="1280160" cy="547624"/>
          </a:xfrm>
          <a:prstGeom xmlns:a="http://schemas.openxmlformats.org/drawingml/2006/main" prst="rect">
            <a:avLst/>
          </a:prstGeom>
        </p:spPr>
      </p:pic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DD19F439-63EC-4B52-8BF7-8B8A31F599A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1645920" y="190500"/>
            <a:ext cx="585216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/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ctr">
              <a:defRPr sz="2400" b="1" i="0">
                <a:solidFill>
                  <a:srgbClr val="1F7A3E"/>
                </a:solidFill>
                <a:latin typeface="Calibri"/>
                <a:ea typeface="Calibri"/>
                <a:cs typeface="Calibri"/>
              </a:defRPr>
            </a:pPr>
            <a:r>
              <a:t>Challenges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395F656D-E821-45AE-9C86-919B09A70D1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2286000" y="4892040"/>
            <a:ext cx="4572000" cy="18288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/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ctr">
              <a:defRPr sz="675" b="0" i="0">
                <a:solidFill>
                  <a:srgbClr val="AAAAAA"/>
                </a:solidFill>
                <a:latin typeface="Calibri"/>
                <a:ea typeface="Calibri"/>
                <a:cs typeface="Calibri"/>
              </a:defRPr>
            </a:pPr>
            <a:r>
              <a:t>AUIC – CS/SE - FYP Presentation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A7A2768B-F30B-4F27-9CF4-D954280F8D4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8503920" y="4892040"/>
            <a:ext cx="457200" cy="18288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/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r">
              <a:defRPr sz="675" b="0" i="0">
                <a:solidFill>
                  <a:srgbClr val="AAAAAA"/>
                </a:solidFill>
                <a:latin typeface="Calibri"/>
                <a:ea typeface="Calibri"/>
                <a:cs typeface="Calibri"/>
              </a:defRPr>
            </a:pPr>
            <a:r>
              <a:t>14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553EDF09-4C42-42A4-B0B9-F3EFA595669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911543" y="862965"/>
            <a:ext cx="2095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/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1050" b="1" i="0">
                <a:solidFill>
                  <a:srgbClr val="1E293B"/>
                </a:solidFill>
                <a:latin typeface="Calibri"/>
                <a:ea typeface="Calibri"/>
                <a:cs typeface="Calibri"/>
              </a:defRPr>
            </a:pPr>
            <a:r>
              <a:t>•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18EA869E-0B13-4AEC-BA2A-FA79A466BDB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1178243" y="862965"/>
            <a:ext cx="7053263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/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050" b="1" i="0">
                <a:solidFill>
                  <a:srgbClr val="1E293B"/>
                </a:solidFill>
                <a:latin typeface="Calibri"/>
                <a:ea typeface="Calibri"/>
                <a:cs typeface="Calibri"/>
              </a:defRPr>
            </a:pPr>
            <a:r>
              <a:t>Simulated payments instead of a live payment gateway mean the booking flow is demonstration-ready but not yet transaction-ready.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0F437191-255B-417B-B234-56E85FFAC05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911543" y="1663065"/>
            <a:ext cx="2095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/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1050" b="1" i="0">
                <a:solidFill>
                  <a:srgbClr val="1E293B"/>
                </a:solidFill>
                <a:latin typeface="Calibri"/>
                <a:ea typeface="Calibri"/>
                <a:cs typeface="Calibri"/>
              </a:defRPr>
            </a:pPr>
            <a:r>
              <a:t>•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9C414379-8DE9-4C30-956A-93BD8769511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1178243" y="1663065"/>
            <a:ext cx="7053263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/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050" b="1" i="0">
                <a:solidFill>
                  <a:srgbClr val="1E293B"/>
                </a:solidFill>
                <a:latin typeface="Calibri"/>
                <a:ea typeface="Calibri"/>
                <a:cs typeface="Calibri"/>
              </a:defRPr>
            </a:pPr>
            <a:r>
              <a:t>Automated testing coverage is still limited, so validation is stronger for manual user flows than for long-term regression control.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EB6B91D9-F8B3-420C-8FFA-6E41AE70B77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911543" y="2463165"/>
            <a:ext cx="2095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/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1050" b="1" i="0">
                <a:solidFill>
                  <a:srgbClr val="1E293B"/>
                </a:solidFill>
                <a:latin typeface="Calibri"/>
                <a:ea typeface="Calibri"/>
                <a:cs typeface="Calibri"/>
              </a:defRPr>
            </a:pPr>
            <a:r>
              <a:t>•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C7A047A3-C4C0-4620-BD8D-1F44B565237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1178243" y="2463165"/>
            <a:ext cx="7053263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/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050" b="1" i="0">
                <a:solidFill>
                  <a:srgbClr val="1E293B"/>
                </a:solidFill>
                <a:latin typeface="Calibri"/>
                <a:ea typeface="Calibri"/>
                <a:cs typeface="Calibri"/>
              </a:defRPr>
            </a:pPr>
            <a:r>
              <a:t>Some booking states and user-created listings currently rely on local or session-based persistence instead of complete cloud synchronization.</a:t>
            </a:r>
          </a:p>
        </p:txBody>
      </p:sp>
    </p:spTree>
    <p:extLst>
      <p:ext uri="{BB962C8B-B14F-4D97-AF65-F5344CB8AC3E}">
        <p14:creationId xmlns:p14="http://schemas.microsoft.com/office/powerpoint/2010/main" val="595054746"/>
      </p:ext>
    </p:extLst>
  </p:cSld>
</p:sld>
</file>

<file path=ppt/slides/slide15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pic>
        <p:nvPicPr>
          <p:cNvPr id="1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d8f289cb7fab4cba"/>
          <a:stretch xmlns:a="http://schemas.openxmlformats.org/drawingml/2006/main"/>
        </p:blipFill>
        <p:spPr>
          <a:xfrm xmlns:a="http://schemas.openxmlformats.org/drawingml/2006/main">
            <a:off x="182880" y="114808"/>
            <a:ext cx="1280160" cy="547624"/>
          </a:xfrm>
          <a:prstGeom xmlns:a="http://schemas.openxmlformats.org/drawingml/2006/main" prst="rect">
            <a:avLst/>
          </a:prstGeom>
        </p:spPr>
      </p:pic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C7A7EA34-779D-4FE7-B745-635C1C16C32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1645920" y="190500"/>
            <a:ext cx="585216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/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ctr">
              <a:defRPr sz="2400" b="1" i="0">
                <a:solidFill>
                  <a:srgbClr val="1F7A3E"/>
                </a:solidFill>
                <a:latin typeface="Calibri"/>
                <a:ea typeface="Calibri"/>
                <a:cs typeface="Calibri"/>
              </a:defRPr>
            </a:pPr>
            <a:r>
              <a:t>Future Work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BDA601C4-7F52-4382-A922-45BDC497915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2286000" y="4892040"/>
            <a:ext cx="4572000" cy="18288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/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ctr">
              <a:defRPr sz="675" b="0" i="0">
                <a:solidFill>
                  <a:srgbClr val="AAAAAA"/>
                </a:solidFill>
                <a:latin typeface="Calibri"/>
                <a:ea typeface="Calibri"/>
                <a:cs typeface="Calibri"/>
              </a:defRPr>
            </a:pPr>
            <a:r>
              <a:t>AUIC – CS/SE - FYP Presentation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240DB9B4-5CC1-4141-AA61-958E88FB1F1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8503920" y="4892040"/>
            <a:ext cx="457200" cy="18288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/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r">
              <a:defRPr sz="675" b="0" i="0">
                <a:solidFill>
                  <a:srgbClr val="AAAAAA"/>
                </a:solidFill>
                <a:latin typeface="Calibri"/>
                <a:ea typeface="Calibri"/>
                <a:cs typeface="Calibri"/>
              </a:defRPr>
            </a:pPr>
            <a:r>
              <a:t>15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CA1032A0-D060-4949-AEFF-F41DEED649F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920115" y="1046798"/>
            <a:ext cx="2095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/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1050" b="1" i="0">
                <a:solidFill>
                  <a:srgbClr val="1E293B"/>
                </a:solidFill>
                <a:latin typeface="Calibri"/>
                <a:ea typeface="Calibri"/>
                <a:cs typeface="Calibri"/>
              </a:defRPr>
            </a:pPr>
            <a:r>
              <a:t>•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4EA674F5-1DB7-4AE7-851B-16A8122D6F9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1186815" y="1046798"/>
            <a:ext cx="6898005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/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050" b="1" i="0">
                <a:solidFill>
                  <a:srgbClr val="1E293B"/>
                </a:solidFill>
                <a:latin typeface="Calibri"/>
                <a:ea typeface="Calibri"/>
                <a:cs typeface="Calibri"/>
              </a:defRPr>
            </a:pPr>
            <a:r>
              <a:t>Integrate a real payment gateway for production-grade booking confirmation.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2D4608EB-227D-4473-8678-1752E1F8CA0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920115" y="1427798"/>
            <a:ext cx="2095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/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1050" b="1" i="0">
                <a:solidFill>
                  <a:srgbClr val="1E293B"/>
                </a:solidFill>
                <a:latin typeface="Calibri"/>
                <a:ea typeface="Calibri"/>
                <a:cs typeface="Calibri"/>
              </a:defRPr>
            </a:pPr>
            <a:r>
              <a:t>•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9D85C1DC-68AE-462D-9B71-CA3B68E1FF2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1186815" y="1427798"/>
            <a:ext cx="6898005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/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050" b="1" i="0">
                <a:solidFill>
                  <a:srgbClr val="1E293B"/>
                </a:solidFill>
                <a:latin typeface="Calibri"/>
                <a:ea typeface="Calibri"/>
                <a:cs typeface="Calibri"/>
              </a:defRPr>
            </a:pPr>
            <a:r>
              <a:t>Add recommendation, search enhancement, ratings, and review features for better traveler decision support.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38364148-AD8E-4268-AEA9-DFF337FA075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920115" y="1808798"/>
            <a:ext cx="2095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/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1050" b="1" i="0">
                <a:solidFill>
                  <a:srgbClr val="1E293B"/>
                </a:solidFill>
                <a:latin typeface="Calibri"/>
                <a:ea typeface="Calibri"/>
                <a:cs typeface="Calibri"/>
              </a:defRPr>
            </a:pPr>
            <a:r>
              <a:t>•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2C8DCAE0-F4AB-42A1-A798-E3164208634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1186815" y="1808798"/>
            <a:ext cx="6898005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/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050" b="1" i="0">
                <a:solidFill>
                  <a:srgbClr val="1E293B"/>
                </a:solidFill>
                <a:latin typeface="Calibri"/>
                <a:ea typeface="Calibri"/>
                <a:cs typeface="Calibri"/>
              </a:defRPr>
            </a:pPr>
            <a:r>
              <a:t>Extend cloud storage to every booking category and build an admin dashboard with stronger moderation controls.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70E749EC-F50C-45F8-9F34-AD1C4D091A7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920115" y="2189798"/>
            <a:ext cx="2095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/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1050" b="1" i="0">
                <a:solidFill>
                  <a:srgbClr val="1E293B"/>
                </a:solidFill>
                <a:latin typeface="Calibri"/>
                <a:ea typeface="Calibri"/>
                <a:cs typeface="Calibri"/>
              </a:defRPr>
            </a:pPr>
            <a:r>
              <a:t>•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B9AB1AE6-6E8A-49B7-B967-A806E62E35C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1186815" y="2189798"/>
            <a:ext cx="6898005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/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050" b="1" i="0">
                <a:solidFill>
                  <a:srgbClr val="1E293B"/>
                </a:solidFill>
                <a:latin typeface="Calibri"/>
                <a:ea typeface="Calibri"/>
                <a:cs typeface="Calibri"/>
              </a:defRPr>
            </a:pPr>
            <a:r>
              <a:t>Introduce push notifications, stronger security rules, and broader automated unit / integration tests.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5D3E6884-0A7B-4D44-8BB1-3748CFE2D63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920115" y="2570798"/>
            <a:ext cx="2095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/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1050" b="1" i="0">
                <a:solidFill>
                  <a:srgbClr val="1E293B"/>
                </a:solidFill>
                <a:latin typeface="Calibri"/>
                <a:ea typeface="Calibri"/>
                <a:cs typeface="Calibri"/>
              </a:defRPr>
            </a:pPr>
            <a:r>
              <a:t>•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2C5C81DD-3099-4B16-8D6A-010729D88E5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1186815" y="2570798"/>
            <a:ext cx="6898005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/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050" b="1" i="0">
                <a:solidFill>
                  <a:srgbClr val="1E293B"/>
                </a:solidFill>
                <a:latin typeface="Calibri"/>
                <a:ea typeface="Calibri"/>
                <a:cs typeface="Calibri"/>
              </a:defRPr>
            </a:pPr>
            <a:r>
              <a:t>Move from a robust academic prototype toward a deployable tourism platform for Pakistan.</a:t>
            </a:r>
          </a:p>
        </p:txBody>
      </p:sp>
    </p:spTree>
    <p:extLst>
      <p:ext uri="{BB962C8B-B14F-4D97-AF65-F5344CB8AC3E}">
        <p14:creationId xmlns:p14="http://schemas.microsoft.com/office/powerpoint/2010/main" val="1586079387"/>
      </p:ext>
    </p:extLst>
  </p:cSld>
</p:sld>
</file>

<file path=ppt/slides/slide16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pic>
        <p:nvPicPr>
          <p:cNvPr id="1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a3da4a94030f438a"/>
          <a:stretch xmlns:a="http://schemas.openxmlformats.org/drawingml/2006/main"/>
        </p:blipFill>
        <p:spPr>
          <a:xfrm xmlns:a="http://schemas.openxmlformats.org/drawingml/2006/main">
            <a:off x="182880" y="114808"/>
            <a:ext cx="1280160" cy="547624"/>
          </a:xfrm>
          <a:prstGeom xmlns:a="http://schemas.openxmlformats.org/drawingml/2006/main" prst="rect">
            <a:avLst/>
          </a:prstGeom>
        </p:spPr>
      </p:pic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CE955156-9F37-4B4D-AACC-6C3780FB29E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1645920" y="190500"/>
            <a:ext cx="585216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/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ctr">
              <a:defRPr sz="2400" b="1" i="0">
                <a:solidFill>
                  <a:srgbClr val="1F7A3E"/>
                </a:solidFill>
                <a:latin typeface="Calibri"/>
                <a:ea typeface="Calibri"/>
                <a:cs typeface="Calibri"/>
              </a:defRPr>
            </a:pPr>
            <a:r>
              <a:t>Conclusion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41C4FABB-E272-4915-8C09-49D4FD51E40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2286000" y="4892040"/>
            <a:ext cx="4572000" cy="18288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/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ctr">
              <a:defRPr sz="675" b="0" i="0">
                <a:solidFill>
                  <a:srgbClr val="AAAAAA"/>
                </a:solidFill>
                <a:latin typeface="Calibri"/>
                <a:ea typeface="Calibri"/>
                <a:cs typeface="Calibri"/>
              </a:defRPr>
            </a:pPr>
            <a:r>
              <a:t>AUIC – CS/SE - FYP Presentation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8CF263FF-EE14-47FD-A486-EF721BEC235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8503920" y="4892040"/>
            <a:ext cx="457200" cy="18288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/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r">
              <a:defRPr sz="675" b="0" i="0">
                <a:solidFill>
                  <a:srgbClr val="AAAAAA"/>
                </a:solidFill>
                <a:latin typeface="Calibri"/>
                <a:ea typeface="Calibri"/>
                <a:cs typeface="Calibri"/>
              </a:defRPr>
            </a:pPr>
            <a:r>
              <a:t>16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F59DB18A-FFDC-4570-9B28-33D605EE7E8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858203" y="1231583"/>
            <a:ext cx="2095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/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1050" b="1" i="0">
                <a:solidFill>
                  <a:srgbClr val="1E293B"/>
                </a:solidFill>
                <a:latin typeface="Calibri"/>
                <a:ea typeface="Calibri"/>
                <a:cs typeface="Calibri"/>
              </a:defRPr>
            </a:pPr>
            <a:r>
              <a:t>•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428D5805-3F61-4A32-A6FE-62120867E4C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1124903" y="1231583"/>
            <a:ext cx="6966585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/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050" b="1" i="0">
                <a:solidFill>
                  <a:srgbClr val="1E293B"/>
                </a:solidFill>
                <a:latin typeface="Calibri"/>
                <a:ea typeface="Calibri"/>
                <a:cs typeface="Calibri"/>
              </a:defRPr>
            </a:pPr>
            <a:r>
              <a:t>The project successfully demonstrates that one modular Flutter application can combine destination discovery, hotel booking, car rental, maps, profile management, and booking history in one tourism workflow.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278916A4-F76A-4A9E-AEB8-D30A14F69F8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858203" y="1745933"/>
            <a:ext cx="2095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/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1050" b="1" i="0">
                <a:solidFill>
                  <a:srgbClr val="1E293B"/>
                </a:solidFill>
                <a:latin typeface="Calibri"/>
                <a:ea typeface="Calibri"/>
                <a:cs typeface="Calibri"/>
              </a:defRPr>
            </a:pPr>
            <a:r>
              <a:t>•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27ADC670-102B-4D60-9211-B3434653119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1124903" y="1745933"/>
            <a:ext cx="6966585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/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050" b="1" i="0">
                <a:solidFill>
                  <a:srgbClr val="1E293B"/>
                </a:solidFill>
                <a:latin typeface="Calibri"/>
                <a:ea typeface="Calibri"/>
                <a:cs typeface="Calibri"/>
              </a:defRPr>
            </a:pPr>
            <a:r>
              <a:t>It applies requirement engineering, layered architecture, reusable UI, Firebase-backed services, and structured testing in a real final-year software project.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24F65C17-4EA0-4FBE-A2C7-C5BBFFC6A2D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858203" y="2260283"/>
            <a:ext cx="2095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/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1050" b="1" i="0">
                <a:solidFill>
                  <a:srgbClr val="1E293B"/>
                </a:solidFill>
                <a:latin typeface="Calibri"/>
                <a:ea typeface="Calibri"/>
                <a:cs typeface="Calibri"/>
              </a:defRPr>
            </a:pPr>
            <a:r>
              <a:t>•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DB9EEDD8-352F-40E8-A24A-8F264DA0891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1124903" y="2260283"/>
            <a:ext cx="6966585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/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050" b="1" i="0">
                <a:solidFill>
                  <a:srgbClr val="1E293B"/>
                </a:solidFill>
                <a:latin typeface="Calibri"/>
                <a:ea typeface="Calibri"/>
                <a:cs typeface="Calibri"/>
              </a:defRPr>
            </a:pPr>
            <a:r>
              <a:t>The prototype is academically valuable today and also leaves a credible path toward future commercial and research-oriented enhancement.</a:t>
            </a:r>
          </a:p>
        </p:txBody>
      </p:sp>
    </p:spTree>
    <p:extLst>
      <p:ext uri="{BB962C8B-B14F-4D97-AF65-F5344CB8AC3E}">
        <p14:creationId xmlns:p14="http://schemas.microsoft.com/office/powerpoint/2010/main" val="1580545960"/>
      </p:ext>
    </p:extLst>
  </p:cSld>
</p:sld>
</file>

<file path=ppt/slides/slide17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pic>
        <p:nvPicPr>
          <p:cNvPr id="1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f0aec6af3e5040ee"/>
          <a:stretch xmlns:a="http://schemas.openxmlformats.org/drawingml/2006/main"/>
        </p:blipFill>
        <p:spPr>
          <a:xfrm xmlns:a="http://schemas.openxmlformats.org/drawingml/2006/main">
            <a:off x="182880" y="114808"/>
            <a:ext cx="1280160" cy="547624"/>
          </a:xfrm>
          <a:prstGeom xmlns:a="http://schemas.openxmlformats.org/drawingml/2006/main" prst="rect">
            <a:avLst/>
          </a:prstGeom>
        </p:spPr>
      </p:pic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8BCBBCCF-1F31-40AD-80DF-5771A72EAC7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1645920" y="190500"/>
            <a:ext cx="585216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/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ctr">
              <a:defRPr sz="2400" b="1" i="0">
                <a:solidFill>
                  <a:srgbClr val="1F7A3E"/>
                </a:solidFill>
                <a:latin typeface="Calibri"/>
                <a:ea typeface="Calibri"/>
                <a:cs typeface="Calibri"/>
              </a:defRPr>
            </a:pPr>
            <a:r>
              <a:t>References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67C73955-96D9-4D73-BDE9-17D62F42648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2286000" y="4892040"/>
            <a:ext cx="4572000" cy="18288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/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ctr">
              <a:defRPr sz="675" b="0" i="0">
                <a:solidFill>
                  <a:srgbClr val="AAAAAA"/>
                </a:solidFill>
                <a:latin typeface="Calibri"/>
                <a:ea typeface="Calibri"/>
                <a:cs typeface="Calibri"/>
              </a:defRPr>
            </a:pPr>
            <a:r>
              <a:t>AUIC – CS/SE - FYP Presentation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39371E02-37AB-400A-84E2-C233E865151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8503920" y="4892040"/>
            <a:ext cx="457200" cy="18288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/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r">
              <a:defRPr sz="675" b="0" i="0">
                <a:solidFill>
                  <a:srgbClr val="AAAAAA"/>
                </a:solidFill>
                <a:latin typeface="Calibri"/>
                <a:ea typeface="Calibri"/>
                <a:cs typeface="Calibri"/>
              </a:defRPr>
            </a:pPr>
            <a:r>
              <a:t>17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D986DBFE-B2D8-41BC-819E-D9A16457913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320040" y="841248"/>
            <a:ext cx="850392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/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975" b="0" i="0">
                <a:solidFill>
                  <a:srgbClr val="1E293B"/>
                </a:solidFill>
                <a:latin typeface="Calibri"/>
                <a:ea typeface="Calibri"/>
                <a:cs typeface="Calibri"/>
              </a:defRPr>
            </a:pPr>
            <a:r>
              <a:t>[1] Google, "Flutter documentation," https://docs.flutter.dev/.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45AF2F36-8D19-4B3F-A34B-CD112D2BF6A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320040" y="1279398"/>
            <a:ext cx="850392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/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975" b="0" i="0">
                <a:solidFill>
                  <a:srgbClr val="1E293B"/>
                </a:solidFill>
                <a:latin typeface="Calibri"/>
                <a:ea typeface="Calibri"/>
                <a:cs typeface="Calibri"/>
              </a:defRPr>
            </a:pPr>
            <a:r>
              <a:t>[2] Google, "Firebase documentation," https://firebase.google.com/docs.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05560255-907C-4F78-8C82-0EC78D93E2A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320040" y="1717548"/>
            <a:ext cx="850392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/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975" b="0" i="0">
                <a:solidFill>
                  <a:srgbClr val="1E293B"/>
                </a:solidFill>
                <a:latin typeface="Calibri"/>
                <a:ea typeface="Calibri"/>
                <a:cs typeface="Calibri"/>
              </a:defRPr>
            </a:pPr>
            <a:r>
              <a:t>[3] Google for Developers, "Google Maps Platform documentation," https://developers.google.com/maps/documentation.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41832BCE-4E54-453E-96F1-749B34444BB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320040" y="2155698"/>
            <a:ext cx="850392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/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975" b="0" i="0">
                <a:solidFill>
                  <a:srgbClr val="1E293B"/>
                </a:solidFill>
                <a:latin typeface="Calibri"/>
                <a:ea typeface="Calibri"/>
                <a:cs typeface="Calibri"/>
              </a:defRPr>
            </a:pPr>
            <a:r>
              <a:t>[4] Material Design 3 guidelines, https://m3.material.io/.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428943DD-D018-4224-880D-D67C13F8044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320040" y="2593848"/>
            <a:ext cx="850392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/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975" b="0" i="0">
                <a:solidFill>
                  <a:srgbClr val="1E293B"/>
                </a:solidFill>
                <a:latin typeface="Calibri"/>
                <a:ea typeface="Calibri"/>
                <a:cs typeface="Calibri"/>
              </a:defRPr>
            </a:pPr>
            <a:r>
              <a:t>[5] Dart documentation, "Dart language tour," https://dart.dev/guides/language/language-tour.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0ED58E56-E134-4497-A93F-36D996A7B26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320040" y="3031998"/>
            <a:ext cx="850392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/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975" b="0" i="0">
                <a:solidFill>
                  <a:srgbClr val="1E293B"/>
                </a:solidFill>
                <a:latin typeface="Calibri"/>
                <a:ea typeface="Calibri"/>
                <a:cs typeface="Calibri"/>
              </a:defRPr>
            </a:pPr>
            <a:r>
              <a:t>[6] Geolocator package documentation, https://pub.dev/packages/geolocator.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DCBB8AE0-0D8D-4D54-A75F-56C868573F3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320040" y="3470148"/>
            <a:ext cx="850392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/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975" b="0" i="0">
                <a:solidFill>
                  <a:srgbClr val="1E293B"/>
                </a:solidFill>
                <a:latin typeface="Calibri"/>
                <a:ea typeface="Calibri"/>
                <a:cs typeface="Calibri"/>
              </a:defRPr>
            </a:pPr>
            <a:r>
              <a:t>[7] Cloud Firestore package documentation, https://pub.dev/packages/cloud_firestore.</a:t>
            </a:r>
          </a:p>
        </p:txBody>
      </p:sp>
    </p:spTree>
    <p:extLst>
      <p:ext uri="{BB962C8B-B14F-4D97-AF65-F5344CB8AC3E}">
        <p14:creationId xmlns:p14="http://schemas.microsoft.com/office/powerpoint/2010/main" val="207496263"/>
      </p:ext>
    </p:extLst>
  </p:cSld>
</p:sld>
</file>

<file path=ppt/slides/slide18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pic>
        <p:nvPicPr>
          <p:cNvPr id="1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932cf5518bb64d7c"/>
          <a:stretch xmlns:a="http://schemas.openxmlformats.org/drawingml/2006/main"/>
        </p:blipFill>
        <p:spPr>
          <a:xfrm xmlns:a="http://schemas.openxmlformats.org/drawingml/2006/main">
            <a:off x="182880" y="114808"/>
            <a:ext cx="1280160" cy="547624"/>
          </a:xfrm>
          <a:prstGeom xmlns:a="http://schemas.openxmlformats.org/drawingml/2006/main" prst="rect">
            <a:avLst/>
          </a:prstGeom>
        </p:spPr>
      </p:pic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05B5ABF2-2BF8-4BCB-92CD-1598A74C087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457200" y="2110264"/>
            <a:ext cx="8229600" cy="77724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/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ctr">
              <a:defRPr sz="3150" b="1" i="0">
                <a:solidFill>
                  <a:srgbClr val="1F7A3E"/>
                </a:solidFill>
                <a:latin typeface="Calibri"/>
                <a:ea typeface="Calibri"/>
                <a:cs typeface="Calibri"/>
              </a:defRPr>
            </a:pPr>
            <a:r>
              <a:t>Question &amp; Suggestions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EC934694-C64E-41D0-A815-C9FAE43A4D5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2286000" y="3072479"/>
            <a:ext cx="45720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F7A3E"/>
          </a:solidFill>
          <a:ln xmlns:a="http://schemas.openxmlformats.org/drawingml/2006/main" w="0"/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6958FE1E-5BF0-4F1B-9333-7F0106C4932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457200" y="4160520"/>
            <a:ext cx="8229600" cy="27432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/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825" b="0" i="0">
                <a:solidFill>
                  <a:srgbClr val="BBBBBB"/>
                </a:solidFill>
                <a:latin typeface="Calibri"/>
                <a:ea typeface="Calibri"/>
                <a:cs typeface="Calibri"/>
              </a:defRPr>
            </a:pPr>
            <a:r>
              <a:t>Abasyn University Islamabad Campus  |  Department of Computer Science  |  2022 – 2026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106B6E86-9929-4631-BEF5-3DD1726A474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2286000" y="4892040"/>
            <a:ext cx="4572000" cy="18288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/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ctr">
              <a:defRPr sz="675" b="0" i="0">
                <a:solidFill>
                  <a:srgbClr val="AAAAAA"/>
                </a:solidFill>
                <a:latin typeface="Calibri"/>
                <a:ea typeface="Calibri"/>
                <a:cs typeface="Calibri"/>
              </a:defRPr>
            </a:pPr>
            <a:r>
              <a:t>AUIC – CS/SE - FYP Presentation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DF08FA1E-45F1-4E4A-AF95-B7E765E4895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8503920" y="4892040"/>
            <a:ext cx="457200" cy="18288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/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r">
              <a:defRPr sz="675" b="0" i="0">
                <a:solidFill>
                  <a:srgbClr val="AAAAAA"/>
                </a:solidFill>
                <a:latin typeface="Calibri"/>
                <a:ea typeface="Calibri"/>
                <a:cs typeface="Calibri"/>
              </a:defRPr>
            </a:pPr>
            <a:r>
              <a:t>18</a:t>
            </a:r>
          </a:p>
        </p:txBody>
      </p:sp>
    </p:spTree>
    <p:extLst>
      <p:ext uri="{BB962C8B-B14F-4D97-AF65-F5344CB8AC3E}">
        <p14:creationId xmlns:p14="http://schemas.microsoft.com/office/powerpoint/2010/main" val="1451013895"/>
      </p:ext>
    </p:extLst>
  </p:cSld>
</p:sld>
</file>

<file path=ppt/theme/theme1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solidFill>
          <a:schemeClr val="dk1"/>
        </a:solidFill>
        <a:solidFill>
          <a:schemeClr val="accent1"/>
        </a:soli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docProps/app.xml><?xml version="1.0" encoding="utf-8"?>
<ap:Properties xmlns:ap="http://schemas.openxmlformats.org/officeDocument/2006/extended-properties">
  <ap:Application>Walnut Exporter</ap:Application>
  <ap:PresentationFormat>Converted Presentation</ap:PresentationFormat>
  <ap:Slides>0</ap:Slides>
  <ap:Notes>0</ap:Notes>
  <ap:HiddenSlides>0</ap:HiddenSlides>
  <ap:SharedDoc>false</ap:SharedDoc>
  <ap:DocSecurity>0</ap:DocSecurity>
</ap:Properties>
</file>

<file path=docProps/core.xml><?xml version="1.0" encoding="utf-8"?>
<coreProperties xmlns:dc="http://purl.org/dc/elements/1.1/" xmlns:dcterms="http://purl.org/dc/terms/" xmlns:xsi="http://www.w3.org/2001/XMLSchema-instance" xmlns="http://schemas.openxmlformats.org/package/2006/metadata/core-properties">
  <dc:creator>Walnut Exporter</dc:creator>
  <lastModifiedBy>Walnut Exporter</lastModifiedBy>
  <dc:title>Presentation</dc:title>
  <dcterms:created xsi:type="dcterms:W3CDTF">2026-05-05T06:08:13.3040000Z</dcterms:created>
  <dcterms:modified xsi:type="dcterms:W3CDTF">2026-05-05T06:08:13.3040000Z</dcterms:modified>
</coreProperties>
</file>