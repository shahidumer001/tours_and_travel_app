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efa2cd07404912" /><Relationship Type="http://schemas.openxmlformats.org/officeDocument/2006/relationships/extended-properties" Target="/docProps/app.xml" Id="R82591e9057254631" /><Relationship Type="http://schemas.openxmlformats.org/officeDocument/2006/relationships/officeDocument" Target="/ppt/presentation.xml" Id="R6f1f0c10d62744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71f30f5a442bc"/>
  </p:sldMasterIdLst>
  <p:notesMasterIdLst>
    <p:notesMasterId xmlns:r="http://schemas.openxmlformats.org/officeDocument/2006/relationships" r:id="R120a21ce47b14c40"/>
  </p:notesMasterIdLst>
  <p:sldIdLst>
    <p:sldId xmlns:r="http://schemas.openxmlformats.org/officeDocument/2006/relationships" id="256" r:id="Ra282d7f627dc4eab"/>
    <p:sldId xmlns:r="http://schemas.openxmlformats.org/officeDocument/2006/relationships" id="257" r:id="Rad871c694d424008"/>
    <p:sldId xmlns:r="http://schemas.openxmlformats.org/officeDocument/2006/relationships" id="258" r:id="R5f85831d3099441f"/>
    <p:sldId xmlns:r="http://schemas.openxmlformats.org/officeDocument/2006/relationships" id="259" r:id="R839d9621667e497b"/>
    <p:sldId xmlns:r="http://schemas.openxmlformats.org/officeDocument/2006/relationships" id="260" r:id="Rca5ee969fb9f4c85"/>
    <p:sldId xmlns:r="http://schemas.openxmlformats.org/officeDocument/2006/relationships" id="261" r:id="R4755f000f53e4e83"/>
    <p:sldId xmlns:r="http://schemas.openxmlformats.org/officeDocument/2006/relationships" id="262" r:id="Rfe796adbf83845ea"/>
    <p:sldId xmlns:r="http://schemas.openxmlformats.org/officeDocument/2006/relationships" id="263" r:id="R3ff0e6c76e4e4129"/>
    <p:sldId xmlns:r="http://schemas.openxmlformats.org/officeDocument/2006/relationships" id="264" r:id="R6f9525db393c4acd"/>
    <p:sldId xmlns:r="http://schemas.openxmlformats.org/officeDocument/2006/relationships" id="265" r:id="Rc124acb586354673"/>
    <p:sldId xmlns:r="http://schemas.openxmlformats.org/officeDocument/2006/relationships" id="266" r:id="R963894aeae7d4635"/>
    <p:sldId xmlns:r="http://schemas.openxmlformats.org/officeDocument/2006/relationships" id="267" r:id="Rde6ab60121d9459a"/>
    <p:sldId xmlns:r="http://schemas.openxmlformats.org/officeDocument/2006/relationships" id="268" r:id="R3f0787f5ffc741cf"/>
    <p:sldId xmlns:r="http://schemas.openxmlformats.org/officeDocument/2006/relationships" id="269" r:id="Rfa8c85f2cd1145ac"/>
    <p:sldId xmlns:r="http://schemas.openxmlformats.org/officeDocument/2006/relationships" id="270" r:id="Rfaa289175be24588"/>
    <p:sldId xmlns:r="http://schemas.openxmlformats.org/officeDocument/2006/relationships" id="271" r:id="Rbad94d47ea2a40cd"/>
    <p:sldId xmlns:r="http://schemas.openxmlformats.org/officeDocument/2006/relationships" id="272" r:id="R5134c34b04994faf"/>
    <p:sldId xmlns:r="http://schemas.openxmlformats.org/officeDocument/2006/relationships" id="273" r:id="R3c774ae45d754f14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71f30f5a442bc" /><Relationship Type="http://schemas.openxmlformats.org/officeDocument/2006/relationships/theme" Target="/ppt/theme/theme1.xml" Id="R875814bac9994521" /><Relationship Type="http://schemas.openxmlformats.org/officeDocument/2006/relationships/notesMaster" Target="/ppt/notesMasters/notesMaster1.xml" Id="R120a21ce47b14c40" /><Relationship Type="http://schemas.openxmlformats.org/officeDocument/2006/relationships/presProps" Target="/ppt/presProps.xml" Id="Re29cfa16c69c40e3" /><Relationship Type="http://schemas.openxmlformats.org/officeDocument/2006/relationships/viewProps" Target="/ppt/viewProps.xml" Id="Rfe35f4c020614e02" /><Relationship Type="http://schemas.openxmlformats.org/officeDocument/2006/relationships/tableStyles" Target="/ppt/tableStyles.xml" Id="Rd7f6f6616a834c8f" /><Relationship Type="http://schemas.openxmlformats.org/officeDocument/2006/relationships/slide" Target="/ppt/slides/slide1.xml" Id="Ra282d7f627dc4eab" /><Relationship Type="http://schemas.openxmlformats.org/officeDocument/2006/relationships/slide" Target="/ppt/slides/slide2.xml" Id="Rad871c694d424008" /><Relationship Type="http://schemas.openxmlformats.org/officeDocument/2006/relationships/slide" Target="/ppt/slides/slide3.xml" Id="R5f85831d3099441f" /><Relationship Type="http://schemas.openxmlformats.org/officeDocument/2006/relationships/slide" Target="/ppt/slides/slide4.xml" Id="R839d9621667e497b" /><Relationship Type="http://schemas.openxmlformats.org/officeDocument/2006/relationships/slide" Target="/ppt/slides/slide5.xml" Id="Rca5ee969fb9f4c85" /><Relationship Type="http://schemas.openxmlformats.org/officeDocument/2006/relationships/slide" Target="/ppt/slides/slide6.xml" Id="R4755f000f53e4e83" /><Relationship Type="http://schemas.openxmlformats.org/officeDocument/2006/relationships/slide" Target="/ppt/slides/slide7.xml" Id="Rfe796adbf83845ea" /><Relationship Type="http://schemas.openxmlformats.org/officeDocument/2006/relationships/slide" Target="/ppt/slides/slide8.xml" Id="R3ff0e6c76e4e4129" /><Relationship Type="http://schemas.openxmlformats.org/officeDocument/2006/relationships/slide" Target="/ppt/slides/slide9.xml" Id="R6f9525db393c4acd" /><Relationship Type="http://schemas.openxmlformats.org/officeDocument/2006/relationships/slide" Target="/ppt/slides/slide10.xml" Id="Rc124acb586354673" /><Relationship Type="http://schemas.openxmlformats.org/officeDocument/2006/relationships/slide" Target="/ppt/slides/slide11.xml" Id="R963894aeae7d4635" /><Relationship Type="http://schemas.openxmlformats.org/officeDocument/2006/relationships/slide" Target="/ppt/slides/slide12.xml" Id="Rde6ab60121d9459a" /><Relationship Type="http://schemas.openxmlformats.org/officeDocument/2006/relationships/slide" Target="/ppt/slides/slide13.xml" Id="R3f0787f5ffc741cf" /><Relationship Type="http://schemas.openxmlformats.org/officeDocument/2006/relationships/slide" Target="/ppt/slides/slide14.xml" Id="Rfa8c85f2cd1145ac" /><Relationship Type="http://schemas.openxmlformats.org/officeDocument/2006/relationships/slide" Target="/ppt/slides/slide15.xml" Id="Rfaa289175be24588" /><Relationship Type="http://schemas.openxmlformats.org/officeDocument/2006/relationships/slide" Target="/ppt/slides/slide16.xml" Id="Rbad94d47ea2a40cd" /><Relationship Type="http://schemas.openxmlformats.org/officeDocument/2006/relationships/slide" Target="/ppt/slides/slide17.xml" Id="R5134c34b04994faf" /><Relationship Type="http://schemas.openxmlformats.org/officeDocument/2006/relationships/slide" Target="/ppt/slides/slide18.xml" Id="R3c774ae45d754f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00643cc5853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414af7f8724f42" /><Relationship Type="http://schemas.openxmlformats.org/officeDocument/2006/relationships/notesMaster" Target="/ppt/notesMasters/notesMaster1.xml" Id="R8a3b737ab2f642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94ee8c7aa344ca" /><Relationship Type="http://schemas.openxmlformats.org/officeDocument/2006/relationships/notesMaster" Target="/ppt/notesMasters/notesMaster1.xml" Id="R4dc6e6aab60242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de45cea28e4261" /><Relationship Type="http://schemas.openxmlformats.org/officeDocument/2006/relationships/notesMaster" Target="/ppt/notesMasters/notesMaster1.xml" Id="R4121460735d840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88249e96d41af" /><Relationship Type="http://schemas.openxmlformats.org/officeDocument/2006/relationships/notesMaster" Target="/ppt/notesMasters/notesMaster1.xml" Id="R86e9de3be19e47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735ba39b52401c" /><Relationship Type="http://schemas.openxmlformats.org/officeDocument/2006/relationships/notesMaster" Target="/ppt/notesMasters/notesMaster1.xml" Id="R9c3a34d03a7547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0aae5adce64040" /><Relationship Type="http://schemas.openxmlformats.org/officeDocument/2006/relationships/notesMaster" Target="/ppt/notesMasters/notesMaster1.xml" Id="R5d96581171ae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aa4e9edd444002" /><Relationship Type="http://schemas.openxmlformats.org/officeDocument/2006/relationships/notesMaster" Target="/ppt/notesMasters/notesMaster1.xml" Id="R1f484a7cb10145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d709b314b148dd" /><Relationship Type="http://schemas.openxmlformats.org/officeDocument/2006/relationships/notesMaster" Target="/ppt/notesMasters/notesMaster1.xml" Id="R22778e95d8fc4e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0177b8412d4172" /><Relationship Type="http://schemas.openxmlformats.org/officeDocument/2006/relationships/notesMaster" Target="/ppt/notesMasters/notesMaster1.xml" Id="R1b146ec609864b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20578da6294d3f" /><Relationship Type="http://schemas.openxmlformats.org/officeDocument/2006/relationships/notesMaster" Target="/ppt/notesMasters/notesMaster1.xml" Id="Rcf69a4b44ff34f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ad6ee221a04d5f" /><Relationship Type="http://schemas.openxmlformats.org/officeDocument/2006/relationships/notesMaster" Target="/ppt/notesMasters/notesMaster1.xml" Id="R1855469a75e441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3f39b4d8574ff2" /><Relationship Type="http://schemas.openxmlformats.org/officeDocument/2006/relationships/notesMaster" Target="/ppt/notesMasters/notesMaster1.xml" Id="R7adce430d9284f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a4ad8ee4d34fdb" /><Relationship Type="http://schemas.openxmlformats.org/officeDocument/2006/relationships/notesMaster" Target="/ppt/notesMasters/notesMaster1.xml" Id="R8dadf26c61c248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bc74c6596341a0" /><Relationship Type="http://schemas.openxmlformats.org/officeDocument/2006/relationships/notesMaster" Target="/ppt/notesMasters/notesMaster1.xml" Id="Re29aef0f54f442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b7e887ddb74c04" /><Relationship Type="http://schemas.openxmlformats.org/officeDocument/2006/relationships/notesMaster" Target="/ppt/notesMasters/notesMaster1.xml" Id="Rd2c08fb0de9d4d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6f6dbae6f34cf8" /><Relationship Type="http://schemas.openxmlformats.org/officeDocument/2006/relationships/notesMaster" Target="/ppt/notesMasters/notesMaster1.xml" Id="Rfb15b0da9c004a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6c197c81614630" /><Relationship Type="http://schemas.openxmlformats.org/officeDocument/2006/relationships/notesMaster" Target="/ppt/notesMasters/notesMaster1.xml" Id="Rdbbee314d9a245b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bc36b5d5f44bac" /><Relationship Type="http://schemas.openxmlformats.org/officeDocument/2006/relationships/notesMaster" Target="/ppt/notesMasters/notesMaster1.xml" Id="R0dde8373ab734b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98adf4209842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1829be952f4bbb" /><Relationship Type="http://schemas.openxmlformats.org/officeDocument/2006/relationships/slideLayout" Target="/ppt/slideLayouts/slideLayout2.xml" Id="R5d0356daae1043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0356daae1043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cab056040414b" /><Relationship Type="http://schemas.openxmlformats.org/officeDocument/2006/relationships/image" Target="/ppt/media/image.png" Id="R617fca0189dc4647" /><Relationship Type="http://schemas.openxmlformats.org/officeDocument/2006/relationships/notesSlide" Target="/ppt/notesSlides/notesSlide1.xml" Id="R2d3601dcb27c47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9dae5395cf4642" /><Relationship Type="http://schemas.openxmlformats.org/officeDocument/2006/relationships/image" Target="/ppt/media/image.png" Id="R9931bd359bf14aa4" /><Relationship Type="http://schemas.openxmlformats.org/officeDocument/2006/relationships/notesSlide" Target="/ppt/notesSlides/notesSlide2.xml" Id="R2ebc804756d64b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34b3edd8a44d4c" /><Relationship Type="http://schemas.openxmlformats.org/officeDocument/2006/relationships/image" Target="/ppt/media/image.png" Id="Rc1f55d931b5243d0" /><Relationship Type="http://schemas.openxmlformats.org/officeDocument/2006/relationships/notesSlide" Target="/ppt/notesSlides/notesSlide3.xml" Id="Reef1d3496af04b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bbefc8ff94f14" /><Relationship Type="http://schemas.openxmlformats.org/officeDocument/2006/relationships/image" Target="/ppt/media/image.png" Id="R531df777115040d8" /><Relationship Type="http://schemas.openxmlformats.org/officeDocument/2006/relationships/notesSlide" Target="/ppt/notesSlides/notesSlide4.xml" Id="R4c26776187fb47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3c88a4c2340b8" /><Relationship Type="http://schemas.openxmlformats.org/officeDocument/2006/relationships/image" Target="/ppt/media/image.png" Id="R38ba82c82d564f7b" /><Relationship Type="http://schemas.openxmlformats.org/officeDocument/2006/relationships/notesSlide" Target="/ppt/notesSlides/notesSlide5.xml" Id="R726fd4a963d240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727356fba496e" /><Relationship Type="http://schemas.openxmlformats.org/officeDocument/2006/relationships/image" Target="/ppt/media/image.png" Id="Rb8640d9c0aed4e59" /><Relationship Type="http://schemas.openxmlformats.org/officeDocument/2006/relationships/notesSlide" Target="/ppt/notesSlides/notesSlide6.xml" Id="Rb0543dc33dfd44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8ec91a51e84031" /><Relationship Type="http://schemas.openxmlformats.org/officeDocument/2006/relationships/image" Target="/ppt/media/image.png" Id="R1ce1c54b91064a1b" /><Relationship Type="http://schemas.openxmlformats.org/officeDocument/2006/relationships/image" Target="/ppt/media/image2.png" Id="R36e2224818d745c2" /><Relationship Type="http://schemas.openxmlformats.org/officeDocument/2006/relationships/notesSlide" Target="/ppt/notesSlides/notesSlide7.xml" Id="Ra83b922f5b2d48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b06b4d326a465f" /><Relationship Type="http://schemas.openxmlformats.org/officeDocument/2006/relationships/image" Target="/ppt/media/image.png" Id="R0db580237b8a4a7f" /><Relationship Type="http://schemas.openxmlformats.org/officeDocument/2006/relationships/image" Target="/ppt/media/image3.png" Id="R83903511a7c94f6f" /><Relationship Type="http://schemas.openxmlformats.org/officeDocument/2006/relationships/notesSlide" Target="/ppt/notesSlides/notesSlide8.xml" Id="Ra57c7ee1a26a45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e11e43c1a14562" /><Relationship Type="http://schemas.openxmlformats.org/officeDocument/2006/relationships/image" Target="/ppt/media/image.png" Id="Rbb670b9537a14859" /><Relationship Type="http://schemas.openxmlformats.org/officeDocument/2006/relationships/image" Target="/ppt/media/image.jpeg" Id="Rb2a64d3e8bb74d1b" /><Relationship Type="http://schemas.openxmlformats.org/officeDocument/2006/relationships/image" Target="/ppt/media/image2.jpeg" Id="Red7f5adc1fc94069" /><Relationship Type="http://schemas.openxmlformats.org/officeDocument/2006/relationships/image" Target="/ppt/media/image3.jpeg" Id="R562bf2eb2844495c" /><Relationship Type="http://schemas.openxmlformats.org/officeDocument/2006/relationships/notesSlide" Target="/ppt/notesSlides/notesSlide9.xml" Id="R4e1f1c43779f46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c0d7228bfe4724" /><Relationship Type="http://schemas.openxmlformats.org/officeDocument/2006/relationships/image" Target="/ppt/media/image.png" Id="R00df162d83314afc" /><Relationship Type="http://schemas.openxmlformats.org/officeDocument/2006/relationships/image" Target="/ppt/media/image4.jpeg" Id="R7662f0dff525411c" /><Relationship Type="http://schemas.openxmlformats.org/officeDocument/2006/relationships/image" Target="/ppt/media/image5.jpeg" Id="Rdb819b406a0d4966" /><Relationship Type="http://schemas.openxmlformats.org/officeDocument/2006/relationships/image" Target="/ppt/media/image6.jpeg" Id="R08dcc1db1b2d4c7d" /><Relationship Type="http://schemas.openxmlformats.org/officeDocument/2006/relationships/notesSlide" Target="/ppt/notesSlides/notesSlide10.xml" Id="Rab4472b0570a49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3caab3b0a749c6" /><Relationship Type="http://schemas.openxmlformats.org/officeDocument/2006/relationships/image" Target="/ppt/media/image.png" Id="R62d87b0023c04376" /><Relationship Type="http://schemas.openxmlformats.org/officeDocument/2006/relationships/image" Target="/ppt/media/image7.jpeg" Id="Rdb02a13cd2a34a8c" /><Relationship Type="http://schemas.openxmlformats.org/officeDocument/2006/relationships/image" Target="/ppt/media/image8.jpeg" Id="R5f47c3ac81f6469e" /><Relationship Type="http://schemas.openxmlformats.org/officeDocument/2006/relationships/image" Target="/ppt/media/image9.jpeg" Id="R96e3b931da97420f" /><Relationship Type="http://schemas.openxmlformats.org/officeDocument/2006/relationships/notesSlide" Target="/ppt/notesSlides/notesSlide11.xml" Id="R9297fc33ceec49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8f0f41f88b48b7" /><Relationship Type="http://schemas.openxmlformats.org/officeDocument/2006/relationships/image" Target="/ppt/media/image.png" Id="R61e297a794454b15" /><Relationship Type="http://schemas.openxmlformats.org/officeDocument/2006/relationships/notesSlide" Target="/ppt/notesSlides/notesSlide12.xml" Id="Rdeb11bec861343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c8e5104014cb8" /><Relationship Type="http://schemas.openxmlformats.org/officeDocument/2006/relationships/image" Target="/ppt/media/image.png" Id="Rc8734d6f995e47a7" /><Relationship Type="http://schemas.openxmlformats.org/officeDocument/2006/relationships/image" Target="/ppt/media/image10.jpeg" Id="R6dd627b706954060" /><Relationship Type="http://schemas.openxmlformats.org/officeDocument/2006/relationships/image" Target="/ppt/media/image11.jpeg" Id="R9980349706494049" /><Relationship Type="http://schemas.openxmlformats.org/officeDocument/2006/relationships/notesSlide" Target="/ppt/notesSlides/notesSlide13.xml" Id="Rc293a317811441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2e388c3e54202" /><Relationship Type="http://schemas.openxmlformats.org/officeDocument/2006/relationships/image" Target="/ppt/media/image.png" Id="R5b6d11c36ea1455a" /><Relationship Type="http://schemas.openxmlformats.org/officeDocument/2006/relationships/notesSlide" Target="/ppt/notesSlides/notesSlide14.xml" Id="Rbf40be7bf9ef41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a6b51ea68429f" /><Relationship Type="http://schemas.openxmlformats.org/officeDocument/2006/relationships/image" Target="/ppt/media/image.png" Id="Rb8945ea344b24820" /><Relationship Type="http://schemas.openxmlformats.org/officeDocument/2006/relationships/notesSlide" Target="/ppt/notesSlides/notesSlide15.xml" Id="R95a975098f4e4f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49cf32bde14b0f" /><Relationship Type="http://schemas.openxmlformats.org/officeDocument/2006/relationships/image" Target="/ppt/media/image.png" Id="R178805a8f1f8420b" /><Relationship Type="http://schemas.openxmlformats.org/officeDocument/2006/relationships/notesSlide" Target="/ppt/notesSlides/notesSlide16.xml" Id="R4bb910fd69f044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689cc5b4b544ae" /><Relationship Type="http://schemas.openxmlformats.org/officeDocument/2006/relationships/image" Target="/ppt/media/image.png" Id="R66cd4f6685b54771" /><Relationship Type="http://schemas.openxmlformats.org/officeDocument/2006/relationships/notesSlide" Target="/ppt/notesSlides/notesSlide17.xml" Id="Re5e081164a7841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4555259d86473d" /><Relationship Type="http://schemas.openxmlformats.org/officeDocument/2006/relationships/image" Target="/ppt/media/image.png" Id="R2716f24d67894c98" /><Relationship Type="http://schemas.openxmlformats.org/officeDocument/2006/relationships/notesSlide" Target="/ppt/notesSlides/notesSlide18.xml" Id="R96003150e05141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fca0189dc4647"/>
          <a:stretch xmlns:a="http://schemas.openxmlformats.org/drawingml/2006/main"/>
        </p:blipFill>
        <p:spPr>
          <a:xfrm xmlns:a="http://schemas.openxmlformats.org/drawingml/2006/main">
            <a:off x="228600" y="167132"/>
            <a:ext cx="1463040" cy="625856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CA7B61-DCA8-478C-8561-56643BC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1440"/>
            <a:ext cx="210312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FYP Defense</a:t>
            </a:r>
          </a:p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Presentation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8252E0B-707C-4234-B301-9B6AFEB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8229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Tours &amp; Travel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279C40-AADE-4EA4-91AA-089F3FEC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22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Mobile Application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35F03F-8067-4EDC-81A2-57327FD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A Smart Tourism Management &amp; Booking Platform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465E666-87B4-4741-9D42-A71D0CCE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892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Shahid Umer		AUIC-22SG-BSCS-6732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Musharaf		AUIC-22SG-BSCS-7029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6F63A5-E325-458E-BA75-DC9577B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6240"/>
            <a:ext cx="73152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Supervisor:   Dr. Amjad Khan</a:t>
            </a:r>
          </a:p>
        </p:txBody>
      </p:sp>
    </p:spTree>
    <p:extLst>
      <p:ext uri="{BB962C8B-B14F-4D97-AF65-F5344CB8AC3E}">
        <p14:creationId xmlns:p14="http://schemas.microsoft.com/office/powerpoint/2010/main" val="874325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1bd359bf14aa4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C1D123-251D-411E-9A04-3B9FBD9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Introduction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9A25F8-1B1F-4D82-97C4-5900CC4D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98756AD-2F2F-4CCE-AAF1-169D5907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019C19A-5E4F-4571-A12B-76D8A777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1E5AF73-D30D-4F83-8668-28119FA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239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Tours &amp; Travel is a Flutter-based mobile application designed to unify destination discovery, hotel booking, transport planning, maps, and traveler support in one platform.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7528038-BCEC-4A39-94C2-33B53479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9112658-C380-4FAA-B65C-ED428BF8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project targets Pakistan’s domestic tourism context, where users still depend on scattered sources for places, hotels, payments, and travel coordination.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38F540B-ED2C-4602-A24A-5FBF6DBE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63F6262-46A3-4E97-8564-9B63CBC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Core objective: build a modular academic prototype that demonstrates authentication, bookings, maps, profile management, booking history, and user-created listings.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73B3B0-F820-49FF-8E98-1B34D4F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70DF12-3B0E-4C33-BAEF-3F58FF1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41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system uses Flutter for the mobile interface and Firebase-backed services with local fallback support for stable final-year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1059747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55d931b5243d0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4AA14F-4077-4BC1-B5FE-05AA73B4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Literature Review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9A98CD-BD36-450B-8AD8-05BC430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9736D6B-1666-464E-847D-A3E7576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4A1A61-B58B-444B-90F9-92053008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DD9D5D2-1F7A-45C7-ACD5-95F7145F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App / System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E3965F-D7CF-409C-8C7C-1B3CF2A9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47750"/>
            <a:ext cx="1952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F35CB88-B810-4BBF-8C10-61F2CD4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104900"/>
            <a:ext cx="1800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It Gives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F05854F-C474-40D7-BE15-302F2F6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047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EF405A6-4DD4-4942-9936-B2F991FF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049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Gap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E979411-955E-480C-A64E-4C7E286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047750"/>
            <a:ext cx="3286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EBFF8A6-6792-4D82-96EF-A25E1357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104900"/>
            <a:ext cx="3133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Our App Gives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5C249C6-FBF6-4329-ABFB-FA8304E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87C9AC1-4383-4192-9955-4DE03C34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Booking.com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7C336E2-913A-45C0-B876-E9FF03E4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335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7FDE2BF-FBE5-4E9C-BAB7-16F8B084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9065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Hotels, stays, flights, car rentals, and guest reviews.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8C02AAA-8984-4A65-AC4A-F2AEA0ED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335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AFA5F18-0CC1-4E3A-B3A0-C65E69D9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906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Strong booking app, but not one local tourism flow for our project scope.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197E5C4-CA16-4C53-9F0B-88E2A2C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3350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C7E4A99-0AB8-4377-9C48-919C5FD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39065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give destination browsing, hotel booking flow, maps, profile, and booking history in one app.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A28B109-E1FB-4B12-B48A-1D1832C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4695401-96E6-4012-A716-0352CFB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Agoda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B9923CF-31BF-448A-AF90-89FD9BE4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C1E1E94-F81B-49CD-A672-D1E74F2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8120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Hotels, homes, flights, transport, and activities.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BE222D5-2855-44FB-8AA0-2A3B8C25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240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0C0711F-FDFB-4AD7-8571-3B6B629A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812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Good travel deals app, but not focused on one local tourism workflow.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16E186D-EC9B-406D-A19B-5199D4CA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2405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5982F18-A0DE-4A6B-BD84-B323B135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98120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give local destination details, booking support, maps, and user account features in one system.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8317622-65A6-45CC-ACE1-02A400F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1460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A1DB477-B14E-48F1-9967-D952611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Expedia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1EC6B27-512C-409D-BAA2-16FA7F29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1460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FD232DD-1870-4C82-9AB7-2787C8E8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Stays, flights, cars, packages, and things to do.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18786D1-4187-401A-BB50-84BC83DA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146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2903D6F-23D5-463C-AE42-B8789694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7175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Strong global travel bundles, but not tailored to our local academic use case.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35EF9D4-62A9-4324-807E-35345F74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1460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8860271D-8C85-432A-833B-197BD891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7175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combine destination exploration, hotel flow, profile, and booking history in one app.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0EA5A2F-EFA7-4032-A335-9C884054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05150"/>
            <a:ext cx="123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E266878A-AD5B-4B1C-BD7C-944167C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Trip.com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F2D55C6-2BF1-469E-AAD7-9123A360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195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810FD3A-C5C7-445C-B330-C378E325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62300"/>
            <a:ext cx="1800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Hotels, flights, trains, attractions, and travel deals.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C92BACC-EEFD-4FCA-B7F7-0A6E7600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051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AFDA3CA1-DD74-42E6-A681-CB162154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62300"/>
            <a:ext cx="1562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Strong international app, but it does not match our single local tourism demo flow.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A1B94DD5-CED0-4B05-9D81-B7EA5912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05150"/>
            <a:ext cx="3286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54252669-AAC5-4DDF-8968-48673251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62300"/>
            <a:ext cx="3133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We give maps, local destinations, hotel booking support, profile, and booking history together.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D1DE00B-63D0-480E-9A37-638B28D0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792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Summary: existing apps provide strong global booking services, while our app combines local destination discovery, hotel flow, maps, profile, and booking history in one academic mobile app.</a:t>
            </a:r>
          </a:p>
        </p:txBody>
      </p:sp>
    </p:spTree>
    <p:extLst>
      <p:ext uri="{BB962C8B-B14F-4D97-AF65-F5344CB8AC3E}">
        <p14:creationId xmlns:p14="http://schemas.microsoft.com/office/powerpoint/2010/main" val="2072212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df777115040d8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8ED64E-441D-47B3-BA27-7D2E9F2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Problem Statement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2F2DF99-F152-48A2-9692-3D37066D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8522C5-90C8-48AC-BCCF-4111A19C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0FAB9A4-8A55-448B-BF14-5B1E4B0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049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Pakistan’s tourism planning process is still fragmented and semi-manual. Users discover destinations on one platform, research hotels somewhere else, arrange transport separately, and confirm details through calls or messages.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D17C519-C102-45A1-9D5C-A47FCFB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There is no single user-friendly mobile application that lets travelers move smoothly from exploration to booking confirmation while also supporting maps, profile data, booking history, and service listings.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784A28-6B00-4E73-BF8D-8E09CBD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90800"/>
            <a:ext cx="733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This creates repeated data entry, weak cost visibility, inconsistent communication, and lower trust for both users and service providers. The project addresses that gap through one integrated tourism app prototype.</a:t>
            </a:r>
          </a:p>
        </p:txBody>
      </p:sp>
    </p:spTree>
    <p:extLst>
      <p:ext uri="{BB962C8B-B14F-4D97-AF65-F5344CB8AC3E}">
        <p14:creationId xmlns:p14="http://schemas.microsoft.com/office/powerpoint/2010/main" val="1315198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a82c82d564f7b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2B25A39-C3D5-41C2-9AAA-E9C6F17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Methodology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DD4850-AEC5-43A0-8C18-CA8B48F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85800"/>
            <a:ext cx="8595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Academic software engineering approach — requirement-driven, modular, and iterative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2650E9-70FA-4A6A-ADC7-0AF99D39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1008FE5-11FA-4CAF-BF2D-B4ACBD9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641FB60-F6F1-484B-BAAE-1AA3156C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95864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68F9F00-C1D8-451D-B48D-4BC34012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649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Requirement Engineering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EAEFAE-2B19-4862-A416-A6070623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88720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6CF70D5-7EB1-4D99-BF3D-3136ED08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415" y="12649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Core Feature Modules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38A9381-B7E1-45D9-A24B-9BA85966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17520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506AB2B-351A-407F-BC8A-0CC2A080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937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Data &amp; Service Layer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0C3F037-714C-4780-8803-79378B9B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17520"/>
            <a:ext cx="420624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9F0C4F2-F760-4C8D-8704-6C254719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415" y="309372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Testing &amp; Validation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D9B110C-64A7-434B-8273-66A767AE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952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9BC2F73-D545-4172-A9D8-0B6EAE2D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19526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Stakeholder identification and requirement analysis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C02ABF6-544F-40F7-9CE1-74AEA7F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90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5BFFB1C-8F55-4D47-B824-329288F5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21907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Functional / non-functional requirements definition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E8EBEF-185C-4817-A83A-6438044A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288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40F918B-8F93-47A6-915A-74EEB3C6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242887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Feasibility study, risk assessment, and traceability planning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08A198A-0AD5-45E4-9776-3C4311AB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CFF0B2F-97E7-49AB-852A-7CDDAE6A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526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Authentication, destination discovery, and booking workflow design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EA01694-23E3-4AED-BAD7-B2331212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968EEA5-2382-4A35-B152-250B0B45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 search, car rental, payment simulation, and map support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61D35EF-E1E8-4C63-8ABA-DC9DAFA8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288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6F7B071-2A6C-4E6C-AB20-EC59154E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2887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Profile management, booking history, and user listing modules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2BB5C11-CAB5-4949-876F-ED0B668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719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4F157D9-0A1A-478D-8B70-D5E7AD7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377190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Service-oriented separation of screens, models, and storage logic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73F8112-5D77-4F15-80CB-31D4B911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0100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9BDC8E27-9315-4CD6-876C-CA848CF0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40100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Firebase Auth, Firestore, Storage, Shared Preferences, and in-memory fallback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DF8193C-D0CA-4666-83BF-6ACE4451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48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B987CB66-3402-42BB-B931-DD4F452A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42481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Reusable validators, constants, theme utilities, and navigation helpers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0DF8F1D-FD94-4436-AC01-B31824F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2D2A3E4-4D5E-4192-ACFB-1D6A005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7190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Manual and integration testing across major user flows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69C37F0-65FB-4908-8F6E-C8F501E0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100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B7DA9F8-1BB0-4DCA-864A-6E9A40DB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0025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Positive / negative case validation for forms, bookings, and routing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9ED2AC3-6EEE-4F65-8753-A3467E6E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994475BD-3B02-4F06-93CC-A1C9BFA6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36652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Honest reporting of defects, limitations, and production gaps</a:t>
            </a:r>
          </a:p>
        </p:txBody>
      </p:sp>
    </p:spTree>
    <p:extLst>
      <p:ext uri="{BB962C8B-B14F-4D97-AF65-F5344CB8AC3E}">
        <p14:creationId xmlns:p14="http://schemas.microsoft.com/office/powerpoint/2010/main" val="10911083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40d9c0aed4e59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B7F197-670B-4DAB-8804-BBC3CCC2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Methodology (Cont..)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BD7C2A8-A7CC-4FF3-849E-9AC280D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ACB658-F985-4DA0-898A-B1A5D51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D1521DF-E09E-4E8C-B9BF-BB003AC9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04672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Development Tools &amp; Practices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FE769C9-36E3-4C32-BAAD-11F1DF2C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804672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Technology Stack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739A3C-104E-420F-B7D8-31FC31FC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18872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453093D-8EEB-43E7-9692-D9745EC8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24587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Category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B2091B3-8F46-4BE6-B120-1AD7E5A0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188720"/>
            <a:ext cx="384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200041-9775-486E-BCD2-A8CBF866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45870"/>
            <a:ext cx="3695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Tool / Practice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04BD2D-561C-494C-84E6-6E54AF4E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43637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0C789A9-B5DE-4A3B-8EB5-5826494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9352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IDE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F87B970-CD84-4355-B37F-A32D0DE2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3637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2CB97F6-C5EE-4E00-9A76-85CD740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9352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Android Studio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8DBEFAB-114C-4BBF-8535-FCD893B7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7452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035AB43-442C-43F9-94E3-6F4F0216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3167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Framework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1D5845E-BB39-4C83-81F7-CD66F6A3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452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60BA5A-A1E3-481C-9EDB-25F6B7E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167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Flutter with Dart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0685560-2081-4475-A7E0-A120B132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1267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965FE53-5D1A-4AFE-B00B-E1C44881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6982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Cloud services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D437700-69B4-4AF1-81FF-8073551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1267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C82D5AA-BC47-4A71-84A1-96CC197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982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Firebase Auth, Cloud Firestore, Firebase Storage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D64C6BD-DA4A-4ABC-BB49-568A442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75082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63449ED-8769-42D2-B25D-928C13EE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80797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Local support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C794182-8E7D-4C4B-9E78-8F9AE7E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5082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A0566D0-2DFB-4DC4-9CC4-941D2D8E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797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Shared Preferences + in-memory booking store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607717F-AEB4-4665-A020-1454D10F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18897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69FEAD5-AC39-4891-BA87-2B59191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4612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Maps &amp; location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52DC1ED-25F8-4FCE-BB23-52BB9DF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897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440584B-D555-4DE6-B20A-213A5816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4612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Google Maps Flutter and Geolocator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665C2AE-A534-4EF5-8423-D6F2BABD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2712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9F179F2-16B8-4515-95A2-BB78E33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68427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Testing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A070E09-7E8F-41C2-92AD-52E9AE9E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27120"/>
            <a:ext cx="3848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29C71E9-B9AA-4EDD-B7ED-01351F82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8427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Manual and integration flow testing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26C9D1E-0114-449B-B7B4-1B8D9FF9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26187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2CFA013-4A57-4F36-9E5E-096F11D1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49999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Flutter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D915160-16E6-4DD3-9951-D074D49C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26187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8F889420-B91A-40C2-B148-E8FE8E61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9999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Dart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57714150-1F50-4551-BC48-161F2E6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F3D12FF9-12B3-4F07-BE8C-36D6D04A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50583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Firebase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879EB143-5E07-4FF9-9E08-3D9DEDDD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6771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3FEB464C-C6A0-4586-90E5-F8399E84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0583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Firestore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E0C3D04-B7FA-4394-9B6B-54D72C4B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73552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5CC01025-06A6-48EF-8F79-92841E0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51167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Maps API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D14486AB-FE86-4AB1-BAB2-09F6F1F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4720" y="3237071"/>
            <a:ext cx="15544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B543D8BA-0990-410D-BFCA-D1914E97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511677"/>
            <a:ext cx="15544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Shared Prefs</a:t>
            </a:r>
          </a:p>
        </p:txBody>
      </p:sp>
    </p:spTree>
    <p:extLst>
      <p:ext uri="{BB962C8B-B14F-4D97-AF65-F5344CB8AC3E}">
        <p14:creationId xmlns:p14="http://schemas.microsoft.com/office/powerpoint/2010/main" val="11006908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1c54b91064a1b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3E3986C-5BC4-4926-87EF-DA8BEDE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System Design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D20421-6358-4CAA-889B-038D18F9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5B540B5-1D82-4389-B736-AF652AEC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7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2224818d745c2"/>
          <a:stretch xmlns:a="http://schemas.openxmlformats.org/drawingml/2006/main"/>
        </p:blipFill>
        <p:spPr>
          <a:xfrm xmlns:a="http://schemas.openxmlformats.org/drawingml/2006/main">
            <a:off x="1891665" y="1181395"/>
            <a:ext cx="5360670" cy="276166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3C64CAE-F8E3-43EF-86E8-C3F8F461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484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Proposed System Architecture Diagram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0EB3B85-2397-4E43-B1F9-EC6DCC8D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7C84A01-8095-4B8F-8399-21E5E4B2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432934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580237b8a4a7f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75E940-6198-41B0-8DEA-F692826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System Design (Cont..)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3C91A92-780C-4E73-B13D-C073DF74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B62E198-7D9D-4FC7-B3BB-87F8E6D6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8</a:t>
            </a: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03511a7c94f6f"/>
          <a:stretch xmlns:a="http://schemas.openxmlformats.org/drawingml/2006/main"/>
        </p:blipFill>
        <p:spPr>
          <a:xfrm xmlns:a="http://schemas.openxmlformats.org/drawingml/2006/main">
            <a:off x="2050256" y="1285875"/>
            <a:ext cx="5214938" cy="2920365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55049AA-1A05-43B8-946A-5BE347C1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484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Use Case Diagram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3999ABB-BA48-45F7-B700-54894849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305984-8A19-4A1C-8A99-2AF45207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9084F-D07A-4997-8E3F-D8A79F53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819150"/>
            <a:ext cx="78105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/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D4BEC-CFFA-419D-8EA7-17EB720B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9810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Use Case Diagram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74469-1BBD-4DAA-BDE2-3B16535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1156811"/>
            <a:ext cx="573405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31343-8C39-4771-B70B-5F946120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314450"/>
            <a:ext cx="58864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3EF6C-A528-4F12-8486-67906650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1400175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Tours &amp; Travel Mobile 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839BF-DA46-41E4-9E57-EF2CDE67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762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1EFB8-FD9D-4AB6-B11B-8BA37FB2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23900" y="2012156"/>
            <a:ext cx="247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04A3F-F72E-49CE-B884-AC3F9A65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993106"/>
            <a:ext cx="247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CBEF3-E04B-410D-B177-4981C97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45632">
            <a:off x="687631" y="2212181"/>
            <a:ext cx="1963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862D3-9C6E-4B6E-A9A1-251B761F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54368">
            <a:off x="811456" y="2212181"/>
            <a:ext cx="1963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9926C-C813-4693-A55B-1F163FE5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3336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VENDOR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61780-EFE6-41F7-AD8B-A025BAA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A7614-A92E-413B-A673-CEC608A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" y="3679031"/>
            <a:ext cx="247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A4EEC-A2B6-420E-8BEA-C6D3A9BE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659981"/>
            <a:ext cx="247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0EDAD-D27E-4840-9942-01CA581F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45632">
            <a:off x="820981" y="3879056"/>
            <a:ext cx="1963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A5A5D-CF2D-4906-8065-081E584D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54368">
            <a:off x="944806" y="3879056"/>
            <a:ext cx="1963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9AA13-3CCB-4FA7-8578-D97D6256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ADMIN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CBC4C-6B87-4D94-8EFF-78EC1FEF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1952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61A3E-766A-43DC-8D57-9D4F6BE6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2202656"/>
            <a:ext cx="247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03E77F-5CA9-4155-8CBE-688C3837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2400" y="2183606"/>
            <a:ext cx="2476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EFF15-64B2-4DA1-BA33-5E171C3A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45632">
            <a:off x="7736131" y="2402681"/>
            <a:ext cx="1963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92454E-C06A-49DD-95FE-484C8394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54368">
            <a:off x="7859956" y="2402681"/>
            <a:ext cx="19636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369B9A-3939-42A8-816A-DBB93166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25241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TRAVELER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81EDDD-291A-48F3-A13E-BD268770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1685925"/>
            <a:ext cx="1676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Add Hotel Listing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56E0C8-4C4E-4435-922D-421302E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2057400"/>
            <a:ext cx="1676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Add Car Listing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2EA2D1-6629-48BB-9E71-B027C1BA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2428875"/>
            <a:ext cx="1676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Manage Listings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81E3EB-D39D-4EB5-A879-B217F141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2800350"/>
            <a:ext cx="1866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Update Prices / Availability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96EF8A-A522-4E88-9C5D-39A799FD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9800" y="3238500"/>
            <a:ext cx="1676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Manage Profile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751BED-4863-44C6-A958-DEC07330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1619250"/>
            <a:ext cx="1733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Register Account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211F83-12D4-4053-96C9-033F3156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1952625"/>
            <a:ext cx="1733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Login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B3FC67-0F1C-42C3-8FB6-A54ECA4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286000"/>
            <a:ext cx="1733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Browse Destinations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14B34B-4DAF-4FFE-B845-02FEBBDB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2619375"/>
            <a:ext cx="1733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View Destination Info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392156-26DA-4389-AE9D-CAE12814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2952750"/>
            <a:ext cx="19621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Book Tour / Hotel / Car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530927-0EF8-4213-93A7-F7E231F3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352800"/>
            <a:ext cx="1733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View Map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9AA4F7-5381-40BC-8E37-E15B04C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686175"/>
            <a:ext cx="1733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View Booking History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C13B17-7CF1-48F1-9042-2CE6AC2E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4019550"/>
            <a:ext cx="173355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Process Payment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A85685-516B-4EAC-8A06-D6BAC1C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3667125"/>
            <a:ext cx="1676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Manage Users / Bookings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DE3CA4-3590-4B78-B8FF-652C7DDD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4010025"/>
            <a:ext cx="16764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2937"/>
            </a:solidFill>
          </a:ln>
        </p:spPr>
        <p:txBody>
          <a:bodyPr xmlns:a="http://schemas.openxmlformats.org/drawingml/2006/main" lIns="57150" tIns="19050" rIns="57150" bIns="19050" anchor="ctr"/>
          <a:lstStyle xmlns:a="http://schemas.openxmlformats.org/drawingml/2006/main"/>
          <a:p xmlns:a="http://schemas.openxmlformats.org/drawingml/2006/main">
            <a:pPr algn="ctr">
              <a:defRPr sz="660" b="0" i="0">
                <a:solidFill>
                  <a:srgbClr val="1F2937"/>
                </a:solidFill>
                <a:latin typeface="Calibri"/>
                <a:ea typeface="Calibri"/>
                <a:cs typeface="Calibri"/>
              </a:defRPr>
            </a:pPr>
            <a:r>
              <a:t>Manage Errors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401B21-35CA-47EB-9F0E-7F2AD47A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30459">
            <a:off x="842351" y="1907381"/>
            <a:ext cx="137282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9ABDA6-6011-421A-A3C3-10A7D0A2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01261">
            <a:off x="840421" y="2093119"/>
            <a:ext cx="1376684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28A8E2-8147-468D-9BD9-5FBA9F1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5718">
            <a:off x="790206" y="2278856"/>
            <a:ext cx="1477112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48C414-029A-483E-95BE-76702CE1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49113">
            <a:off x="682896" y="2478881"/>
            <a:ext cx="1596482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AE2A8D-7BC6-47E1-889E-A474EDC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3873">
            <a:off x="558871" y="2683669"/>
            <a:ext cx="1939782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27EFBF-ADDC-4EB2-BFF4-CD38A597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304694">
            <a:off x="6904839" y="1964531"/>
            <a:ext cx="1039797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3B50B5-8625-44BB-B410-82476FE0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419588">
            <a:off x="6950349" y="2131219"/>
            <a:ext cx="94877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8E4545-8DC0-4566-9007-ED273A05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82380">
            <a:off x="6939593" y="2297906"/>
            <a:ext cx="970289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D72DB7-C403-489F-B15A-2AE2DC62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52406">
            <a:off x="6875871" y="2464594"/>
            <a:ext cx="1097733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3726D4A-6A5E-402C-9F8A-18FB4292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913350">
            <a:off x="6861335" y="2645569"/>
            <a:ext cx="1241104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A8DE96-1B14-4224-A36A-81EA7AD7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563145">
            <a:off x="6623603" y="2831306"/>
            <a:ext cx="160226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F41D0B-B9CA-4A6A-83E9-43DECBDC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4115">
            <a:off x="6483713" y="2997994"/>
            <a:ext cx="1882049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C42B4C-311B-4392-B5C6-77D2B0EE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40088">
            <a:off x="6336248" y="3164681"/>
            <a:ext cx="217697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9A9BFB-3932-485E-9051-C1B844E9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88984">
            <a:off x="977029" y="3731419"/>
            <a:ext cx="1265392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6AD8FF-8958-4A65-B0A9-F8637319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7483">
            <a:off x="935785" y="3902869"/>
            <a:ext cx="134788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/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BAF995-0E65-4881-98F5-78BC86CB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44005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11707430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70b9537a14859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350F5B-C177-4BE0-97CF-A0F2A936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App Screens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8EA7733-DB6E-4C37-A3A0-29A23121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180BB8-7296-4C6C-BA34-B9430AC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C461AFA-5938-4542-8424-20F4F4DE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8595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Mobile App — Authentication &amp; Discovery Interface</a:t>
            </a:r>
          </a:p>
        </p:txBody>
      </p:sp>
      <p:pic>
        <p:nvPicPr>
          <p:cNvPr id="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64d3e8bb74d1b"/>
          <a:stretch xmlns:a="http://schemas.openxmlformats.org/drawingml/2006/main"/>
        </p:blipFill>
        <p:spPr>
          <a:xfrm xmlns:a="http://schemas.openxmlformats.org/drawingml/2006/main">
            <a:off x="1047750" y="1090928"/>
            <a:ext cx="1524000" cy="3161669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541580-D904-401D-B352-13F6103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Login Screen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9B8F263-285C-4B23-9446-BA1176C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User authentication entry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f5adc1fc94069"/>
          <a:stretch xmlns:a="http://schemas.openxmlformats.org/drawingml/2006/main"/>
        </p:blipFill>
        <p:spPr>
          <a:xfrm xmlns:a="http://schemas.openxmlformats.org/drawingml/2006/main">
            <a:off x="3714750" y="1199356"/>
            <a:ext cx="1428750" cy="2944812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2E91BD-8E24-4FD5-80B0-D18FC5A3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291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Home / Discovery Screen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968EFC0-EC75-4090-B00E-1BA04042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3867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Browse destinations and services</a:t>
            </a: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bf2eb2844495c"/>
          <a:stretch xmlns:a="http://schemas.openxmlformats.org/drawingml/2006/main"/>
        </p:blipFill>
        <p:spPr>
          <a:xfrm xmlns:a="http://schemas.openxmlformats.org/drawingml/2006/main">
            <a:off x="5905500" y="1423777"/>
            <a:ext cx="1619250" cy="249597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28E9382-89FA-4185-AFF7-5D7D3F72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2912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Destination Detail Screen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16511E5-071C-4FA6-BC5E-0BEA9264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386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Highlights, gallery, and booking CTA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41C3C50-37A5-4799-8075-D351DCE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FB4A6F-BD82-4FB1-97F7-7B7EED5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241835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f162d83314afc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9DA8F5-47B6-43A4-831A-6B6A76AE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App Screens (Cont..)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77B156-FBBB-4890-B932-D5DAB18B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88E632B-EA2E-44CE-853A-A8FC8AB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4EE056-B08A-4E92-9419-D8C32659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8595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Mobile App — Booking, Selection, and Confirmation</a:t>
            </a:r>
          </a:p>
        </p:txBody>
      </p:sp>
      <p:pic>
        <p:nvPicPr>
          <p:cNvPr id="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2f0dff525411c"/>
          <a:stretch xmlns:a="http://schemas.openxmlformats.org/drawingml/2006/main"/>
        </p:blipFill>
        <p:spPr>
          <a:xfrm xmlns:a="http://schemas.openxmlformats.org/drawingml/2006/main">
            <a:off x="904875" y="1063737"/>
            <a:ext cx="1571625" cy="321605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1A285E-BAEB-4CB1-84ED-4DFF9722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29125"/>
            <a:ext cx="1838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Hotel Selection Screen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7EEBFC-5DC0-439D-A3F8-360EAD22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38675"/>
            <a:ext cx="1838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User chooses hotel and room type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19b406a0d4966"/>
          <a:stretch xmlns:a="http://schemas.openxmlformats.org/drawingml/2006/main"/>
        </p:blipFill>
        <p:spPr>
          <a:xfrm xmlns:a="http://schemas.openxmlformats.org/drawingml/2006/main">
            <a:off x="3628276" y="1028700"/>
            <a:ext cx="1554072" cy="3286125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B1D6F4-D0D5-4CB8-914C-54EEB199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29125"/>
            <a:ext cx="1838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Payment Screen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ADC19F-D7B0-4383-AD39-DABA7D67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38675"/>
            <a:ext cx="1838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Simulated payment interface</a:t>
            </a: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cc1db1b2d4c7d"/>
          <a:stretch xmlns:a="http://schemas.openxmlformats.org/drawingml/2006/main"/>
        </p:blipFill>
        <p:spPr>
          <a:xfrm xmlns:a="http://schemas.openxmlformats.org/drawingml/2006/main">
            <a:off x="6334125" y="1036482"/>
            <a:ext cx="1571625" cy="327056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FF53A7-74F4-41D1-B571-00C46791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429125"/>
            <a:ext cx="1838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 Confirmation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F0477AD-C777-4647-843A-BBD1ED2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638675"/>
            <a:ext cx="1838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Success state after confirmation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0E29EB7-60FE-4982-8D49-32EBCA4C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2C4F8A-A2E0-41A2-B96C-2E7224D8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51751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87b0023c04376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DA8DC3-CB82-426D-A4AF-D5815FBB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App Screens (Cont..)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8C4D9C-B1BA-45BC-8CCD-6E768D4D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0ED200-07DA-4C73-8FF0-B3B2E1A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2BE979-6230-43A2-9E12-A52BEFC1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17804"/>
            <a:ext cx="85953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Booking History, Profile, and Maps</a:t>
            </a:r>
          </a:p>
        </p:txBody>
      </p:sp>
      <p:pic>
        <p:nvPicPr>
          <p:cNvPr id="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2a13cd2a34a8c"/>
          <a:stretch xmlns:a="http://schemas.openxmlformats.org/drawingml/2006/main"/>
        </p:blipFill>
        <p:spPr>
          <a:xfrm xmlns:a="http://schemas.openxmlformats.org/drawingml/2006/main">
            <a:off x="974320" y="1104900"/>
            <a:ext cx="138511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1949DDD-82B6-422B-8B53-FA8B53C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42232"/>
            <a:ext cx="2697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 History Screen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6DEA92-9C02-4454-B463-0E5B6A4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70832"/>
            <a:ext cx="2697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Confirmed trips visible to the user</a:t>
            </a: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7c3ac81f6469e"/>
          <a:stretch xmlns:a="http://schemas.openxmlformats.org/drawingml/2006/main"/>
        </p:blipFill>
        <p:spPr>
          <a:xfrm xmlns:a="http://schemas.openxmlformats.org/drawingml/2006/main">
            <a:off x="3738722" y="1104900"/>
            <a:ext cx="1380805" cy="2857500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E18CB47-ACC6-48F2-993C-6DFBBEB9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42232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Profile Management Screen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28D9C6F-CA11-4F86-B75F-912822CE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70832"/>
            <a:ext cx="24574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User details, counts, and quick actions</a:t>
            </a: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3b931da97420f"/>
          <a:stretch xmlns:a="http://schemas.openxmlformats.org/drawingml/2006/main"/>
        </p:blipFill>
        <p:spPr>
          <a:xfrm xmlns:a="http://schemas.openxmlformats.org/drawingml/2006/main">
            <a:off x="6512384" y="1104900"/>
            <a:ext cx="1357982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2886FC0-6556-463C-B70D-138B9BB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42232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Tourist Map Screen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18149B-F27D-456B-A141-5A194D49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70832"/>
            <a:ext cx="24955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t>Location markers and map-based support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6AE0375-2A41-4538-88B6-285B86FA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3E3451D-F233-4425-93BE-5718C2F1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8804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297a794454b15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FD5DC5-870F-4706-AC91-FE711107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Results and Analysis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A29901-A62B-4673-B1DF-672C63F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5491A5-40C3-4D2F-9A14-6AEFAA15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15BF5B5-0FCF-4348-9E1D-CA3FB1C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777240"/>
            <a:ext cx="85953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Functional Testing — Core User Flows Validated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90516FF-6EC1-4180-81BF-8B73DBB4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109663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14299A0-2106-40DC-A8A4-F92BCBA5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1166813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Test Case ID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C20040C-D874-4BBF-AD9D-C82EB46A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1109663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EBE175-04B8-4251-9BF5-B2E8D6A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166813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Module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3DF2C38-FB84-444A-A931-D00897A8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109663"/>
            <a:ext cx="4524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D1AD8E-F9B1-4BBC-A792-FCC9BFAD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080" y="1166813"/>
            <a:ext cx="4371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Description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872FED6-67C1-448E-A4F9-102A4B42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1109663"/>
            <a:ext cx="1323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C3810FC-75FC-4A04-A89E-4AEB767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455" y="1166813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t>Status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D0B4D7-DAEA-463C-BC7F-21C966A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433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64306E0-6A58-4AB8-8F4D-B654EA52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1490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TC-01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6C7351F-C0AC-4DE0-9E5A-B2B24DB7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1433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B71C775-31B4-492E-96CA-BA95A32D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490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Authentication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EEAA6AE-6C81-4FFB-881C-4F8CE9FC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43351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09ACF3B-221D-47A9-883C-C9AE27F4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080" y="149066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User registers / logs in successfully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3B8B872-F04E-4EFA-AB84-8D4E7A4B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143351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E23E31D-C4B3-4EEE-9B8B-51677046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455" y="149066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82272BF-62CD-4F9B-9313-6B32402D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1909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2F96FAD-CDC7-413A-B261-2AF5ABC2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1966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TC-02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96E7412-2F39-400B-BFCF-73E0F471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1909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75E550B-6D9D-498F-9717-D1B483E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66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Validation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86846B9-7B53-4B86-BFBC-504835AE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0976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2769948-9A02-400E-AC37-FD82D2EF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080" y="196691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Invalid email or password shows appropriate feedback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32A2D56-4476-48B4-BE31-C3C9246D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190976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EE28508-E3AC-4855-9869-6CDCA61F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455" y="196691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0C14078-2D0C-43C7-8B90-7C198D39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23860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6FE3E65-B0BD-4CE3-9A38-7405275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24431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TC-03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677F9E5-0263-4A71-A89B-DEC8C39C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23860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F2CDDD59-8EB8-4406-B005-42C648AB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4431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Booking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0C0E25D8-300B-424C-A35A-4502D19F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238601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99FA0EA-D3FB-4737-BB57-885E9B7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080" y="244316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Destination and hotel selection flow completes correctly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2F2DD06E-4AE4-4DC9-9C08-772EC27C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238601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6D308CB-94A3-4BF3-B77C-6A5D9A7C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455" y="244316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D9EAA093-FC6C-4A94-9EB6-7D44FCC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28622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D3BE672B-EFB3-4B0D-9437-A2625648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29194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TC-04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1F54F29-E477-4CB0-BB3B-0FD0DF5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28622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0E22438E-FEEA-46AA-BD5F-20D8F201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9194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Payment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ABA027E-6138-49DB-A336-C2D01C68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286226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076C4436-7B8E-4A71-8FB3-F0C211D0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080" y="291941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Simulated payment moves to booking success state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C4A87B3A-B28E-4B9F-9AFA-1212672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286226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F51C6EA9-B65D-4E4F-898F-74D671AA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455" y="291941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FD7AA8E5-C9BF-40FC-B6B8-2F92A82B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3338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BBC5E13-0158-47DD-B50A-EC0B076D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3395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TC-05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E2621A6A-932D-4A05-95CD-D52D3D5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333851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9F2A762A-E2CD-4E30-B76A-D87DDBF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39566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History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D41E8ACC-51A3-416D-8C7E-EDA77970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333851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76A1C6E1-3A46-403C-A1B9-1896949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080" y="339566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Confirmed booking appears in booking history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94C5009D-DC89-4D9B-A87C-8F59CB5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333851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6009C52F-4061-46A3-BA6A-7B4F02B3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455" y="339566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B9419574-B325-410E-A14B-B4F1F2B3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" y="3814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3834E05C-2F3D-4E7E-B083-28A50497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" y="3871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TC-06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5B65B909-3DCA-462A-8762-4B6B0E01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3814763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AFF6A513-31CA-4FA5-A165-7D1084AA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871913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Maps / Listings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907E5527-FBFC-4BFC-AA07-BBE382AB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3814763"/>
            <a:ext cx="4524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D2C1585E-7306-4B54-9ECA-091132C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080" y="3871913"/>
            <a:ext cx="4371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Map loads and local listings remain accessible</a:t>
            </a: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A88A6BB5-A5A4-4D09-9A5E-7383610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5255" y="3814763"/>
            <a:ext cx="1323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</a:ln>
        </p:spPr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5AF90921-0A72-49F7-8389-E01E896F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455" y="3871913"/>
            <a:ext cx="1171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16A34A"/>
                </a:solidFill>
                <a:latin typeface="Calibri"/>
                <a:ea typeface="Calibri"/>
                <a:cs typeface="Calibri"/>
              </a:defRPr>
            </a:pPr>
            <a:r>
              <a:t>PASS</a:t>
            </a:r>
          </a:p>
        </p:txBody>
      </p:sp>
    </p:spTree>
    <p:extLst>
      <p:ext uri="{BB962C8B-B14F-4D97-AF65-F5344CB8AC3E}">
        <p14:creationId xmlns:p14="http://schemas.microsoft.com/office/powerpoint/2010/main" val="15636510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34d6f995e47a7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7EEB372-A401-4D68-BF46-C3541767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Results and Analysis (Cont..)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7B459A1-5C75-49C0-B652-9BAFA456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E157CD-1528-4E5E-A355-566CBB97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6B1B51A-9C76-432F-AC10-2F8AC9F6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332" y="749808"/>
            <a:ext cx="343109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Prototype Readiness &amp; Cloud Data View</a:t>
            </a:r>
          </a:p>
        </p:txBody>
      </p:sp>
      <p:pic>
        <p:nvPicPr>
          <p:cNvPr id="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627b706954060"/>
          <a:stretch xmlns:a="http://schemas.openxmlformats.org/drawingml/2006/main"/>
        </p:blipFill>
        <p:spPr>
          <a:xfrm xmlns:a="http://schemas.openxmlformats.org/drawingml/2006/main">
            <a:off x="436245" y="1588660"/>
            <a:ext cx="3619500" cy="1442306"/>
          </a:xfrm>
          <a:prstGeom xmlns:a="http://schemas.openxmlformats.org/drawingml/2006/main" prst="rect">
            <a:avLst/>
          </a:prstGeom>
        </p:spPr>
      </p:pic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0349706494049"/>
          <a:stretch xmlns:a="http://schemas.openxmlformats.org/drawingml/2006/main"/>
        </p:blipFill>
        <p:spPr>
          <a:xfrm xmlns:a="http://schemas.openxmlformats.org/drawingml/2006/main">
            <a:off x="4663440" y="1574218"/>
            <a:ext cx="4023360" cy="1835045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903E22A-BD63-4292-A5A9-CC63FE12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811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00"/>
              <a:t>The prototype demonstrates structured </a:t>
            </a:r>
            <a:r>
              <a:rPr sz="1100"/>
              <a:t>Firestore</a:t>
            </a:r>
            <a:r>
              <a:rPr sz="1100"/>
              <a:t> collections, initialized cloud data, and a maintainable service-driven design that can be extended beyond the current academic scope.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9A6E897-6987-49D7-9388-1721A411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811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89CD8D8-9792-4674-8F7F-E47A9D93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0A8DBAE-E671-4ADD-9A11-A4B0EA75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700195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d11c36ea1455a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19F439-63EC-4B52-8BF7-8B8A31F5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Challenges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95F656D-E821-45AE-9C86-919B09A7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A2768B-F30B-4F27-9CF4-D954280F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53EDF09-4C42-42A4-B0B9-F3EFA595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3" y="86296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EA869E-0B13-4AEC-BA2A-FA79A466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3" y="862965"/>
            <a:ext cx="70532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Simulated payments instead of a live payment gateway mean the booking flow is demonstration-ready but not yet transaction-ready.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F437191-255B-417B-B234-56E85FFA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3" y="166306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C414379-8DE9-4C30-956A-93BD876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3" y="1663065"/>
            <a:ext cx="70532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Automated testing coverage is still limited, so validation is stronger for manual user flows than for long-term regression control.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B6B91D9-F8B3-420C-8FFA-6E41AE7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3" y="246316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A047A3-C4C0-4620-BD8D-1F44B565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3" y="2463165"/>
            <a:ext cx="70532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Some booking states and user-created listings currently rely on local or session-based persistence instead of complete cloud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5950547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45ea344b24820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A7EA34-779D-4FE7-B745-635C1C16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Future 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A601C4-7F52-4382-A922-45BDC497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0DB9B4-5CC1-4141-AA61-958E88FB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032A0-D060-4949-AEFF-F41DEED6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" y="1046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EA674F5-1DB7-4AE7-851B-16A8122D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" y="1046798"/>
            <a:ext cx="68980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Integrate a real payment gateway for production-grade booking confirmation.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D4608EB-227D-4473-8678-1752E1F8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" y="1427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85C1DC-68AE-462D-9B71-CA3B68E1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" y="1427798"/>
            <a:ext cx="689800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Add recommendation, search enhancement, features for better traveler decision support.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C8DCAE0-F4AB-42A1-A798-E316420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" y="1808798"/>
            <a:ext cx="689800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E749EC-F50C-45F8-9F34-AD1C4D09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" y="1808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9AB1AE6-6E8A-49B7-B967-A806E62E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" y="1808798"/>
            <a:ext cx="6898005" cy="342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Introduce push notifications, stronger security rules, and broader automated unit / integration tests.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3E6884-0A7B-4D44-8BB1-3748CFE2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" y="2189798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C5C81DD-3099-4B16-8D6A-010729D8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" y="2151696"/>
            <a:ext cx="6898005" cy="342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Move from a robust academic prototype toward a deployable tourism platform for Pakistan.</a:t>
            </a:r>
          </a:p>
        </p:txBody>
      </p:sp>
    </p:spTree>
    <p:extLst>
      <p:ext uri="{BB962C8B-B14F-4D97-AF65-F5344CB8AC3E}">
        <p14:creationId xmlns:p14="http://schemas.microsoft.com/office/powerpoint/2010/main" val="15860793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805a8f1f8420b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955156-9F37-4B4D-AACC-6C3780FB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C4FABB-E272-4915-8C09-49D4FD51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F263FF-EE14-47FD-A486-EF721BEC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59DB18A-FFDC-4570-9B28-33D605EE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23158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28D5805-3F61-4A32-A6FE-62120867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231583"/>
            <a:ext cx="696658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project successfully demonstrates that one modular Flutter application can combine destination discovery, hotel booking, car rental, maps, profile management, and booking history in one tourism workflow.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78916A4-F76A-4A9E-AEB8-D30A14F6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174593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7ADC670-102B-4D60-9211-B3434653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1745933"/>
            <a:ext cx="696658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It applies requirement engineering, layered architecture, reusable UI, Firebase-backed services, and structured testing in a real final-year software project.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4F65C17-4EA0-4FBE-A2C7-C5BBFFC6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3" y="2260283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•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B9EEDD8-352F-40E8-A24A-8F264DA0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3" y="2260283"/>
            <a:ext cx="696658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The prototype is academically valuable today and also leaves a credible path toward future commercial and research-oriented enhancement.</a:t>
            </a:r>
          </a:p>
        </p:txBody>
      </p:sp>
    </p:spTree>
    <p:extLst>
      <p:ext uri="{BB962C8B-B14F-4D97-AF65-F5344CB8AC3E}">
        <p14:creationId xmlns:p14="http://schemas.microsoft.com/office/powerpoint/2010/main" val="158054596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d4f6685b54771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CBBCCF-1F31-40AD-80DF-5771A72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190500"/>
            <a:ext cx="585216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References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C73955-96D9-4D73-BDE9-17D62F42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371E02-37AB-400A-84E2-C233E865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986DBFE-B2D8-41BC-819E-D9A1645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8412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[1] Google, "Flutter documentation," https://docs.flutter.dev/.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5AF2F36-8D19-4B3F-A34B-CD112D2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27939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[2] Google, "Firebase documentation," https://firebase.google.com/docs.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560255-907C-4F78-8C82-0EC78D93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7175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[3] Google for Developers, "Google Maps Platform documentation," https://developers.google.com/maps/documentation.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1832BCE-4E54-453E-96F1-749B344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15569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[4] Material Design 3 guidelines, https://m3.material.io/.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28943DD-D018-4224-880D-D67C13F8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5938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[5] Dart documentation, "Dart language tour," https://dart.dev/guides/language/language-tour.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ED58E56-E134-4497-A93F-36D996A7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03199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[6] Geolocator package documentation, https://pub.dev/packages/geolocator.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CBB8AE0-0D8D-4D54-A75F-56C86857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3470148"/>
            <a:ext cx="850392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t>[7] Cloud Firestore package documentation, https://pub.dev/packages/cloud_firestore.</a:t>
            </a:r>
          </a:p>
        </p:txBody>
      </p:sp>
    </p:spTree>
    <p:extLst>
      <p:ext uri="{BB962C8B-B14F-4D97-AF65-F5344CB8AC3E}">
        <p14:creationId xmlns:p14="http://schemas.microsoft.com/office/powerpoint/2010/main" val="2074962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f24d67894c98"/>
          <a:stretch xmlns:a="http://schemas.openxmlformats.org/drawingml/2006/main"/>
        </p:blipFill>
        <p:spPr>
          <a:xfrm xmlns:a="http://schemas.openxmlformats.org/drawingml/2006/main">
            <a:off x="182880" y="114808"/>
            <a:ext cx="1280160" cy="54762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B5ABF2-2BF8-4BCB-92CD-1598A74C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0264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1F7A3E"/>
                </a:solidFill>
                <a:latin typeface="Calibri"/>
                <a:ea typeface="Calibri"/>
                <a:cs typeface="Calibri"/>
              </a:defRPr>
            </a:pPr>
            <a:r>
              <a:t>Question</a:t>
            </a:r>
            <a:r>
              <a:t>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934694-C64E-41D0-A815-C9FAE43A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2479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3E"/>
          </a:solidFill>
          <a:ln xmlns:a="http://schemas.openxmlformats.org/drawingml/2006/main" w="0"/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58FE1E-5BF0-4F1B-9333-7F0106C4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BBBBBB"/>
                </a:solidFill>
                <a:latin typeface="Calibri"/>
                <a:ea typeface="Calibri"/>
                <a:cs typeface="Calibri"/>
              </a:defRPr>
            </a:pPr>
            <a:r>
              <a:t>Abasyn University Islamabad Campus  |  Department of Computer Science  |  2022 – 2026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06B6E86-9929-4631-BEF5-3DD1726A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2040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AUIC – CS/SE - FYP Presentation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08FA1E-45F1-4E4A-AF95-B7E765E4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48920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AAAAA"/>
                </a:solidFill>
                <a:latin typeface="Calibri"/>
                <a:ea typeface="Calibri"/>
                <a:cs typeface="Calibri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510138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2026-05-08T15:11:57.2210000Z</dcterms:created>
  <dcterms:modified xsi:type="dcterms:W3CDTF">2026-05-08T15:11:57.2210000Z</dcterms:modified>
</coreProperties>
</file>